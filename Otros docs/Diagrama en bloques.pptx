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E49"/>
    <a:srgbClr val="CFE6D6"/>
    <a:srgbClr val="00463F"/>
    <a:srgbClr val="ECFFF2"/>
    <a:srgbClr val="6FE6D6"/>
    <a:srgbClr val="6FE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8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9F65C-4503-46EF-A20F-62732069D2F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D6730-F15C-4D12-93E1-878ABF970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4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D6730-F15C-4D12-93E1-878ABF9708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6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96A0-E081-FC7C-1699-5EA7E0D34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1F613-8904-D8FB-98F0-400E26F84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00F0-7300-5F65-0678-13271F90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F566-EA6D-ADA9-DC27-F354C9CE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C420-F035-477B-629F-61779C5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AEE-13F1-0EEA-33D7-10E744DA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9EE6-D4F4-1809-876A-3FCE04A2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923F1-A1F8-4A88-4E1F-B63D6EBF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626C-9A0D-4D0C-F9F5-53DDFBD7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3C767-57B2-9616-9A9B-8E0C8F4A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0B56-9AB9-588C-EFFE-CA7192AD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D548-7AEF-1633-07ED-93E6B1C84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C6036-8533-822E-286A-0D354E2E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0621E-7364-24F8-DDF5-9AE4B57A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A7B55-5651-6CA0-6D18-F8E1D46A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6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EF60-43B5-D65C-0B5E-C0DECA20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BFF4-6E28-6B69-2CBF-4107AEC5B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E4FD9-F74A-50FF-2021-A17C73625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8498A-C329-B4BE-3347-31D8C335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9284-4516-0F2B-1201-38D35B4B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F57AB-0EE3-03CB-23F9-C42048FE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94E7-5D57-E5DE-9038-5219738C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D7A8-DCF0-92A4-F411-814B266FC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8F26E-1751-838C-CF5F-5F2745932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D71D7-6020-1DF0-122E-DF418D538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E2FB9-64E6-6916-EECB-C30B54E31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FE535-EFAB-72D9-5297-0AC2650B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F63CC-7DC8-D2FB-9A72-B370098B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F41D8-DC96-72B5-FBD4-0DC14C80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2352-54F3-0E02-1F1F-E918D6AD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622A6-A754-1680-EF5E-A3E086E8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1F4D6-96DF-B566-61CB-E1D5495B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ED972-ED76-6B4A-89B6-2C42D58A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F80E3-EE12-395A-C5D8-072EC8A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760C3-29CA-BFDF-16E7-E683088F9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ABAF0-6996-D553-2B35-011860D9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53C7-D9B8-1345-69BA-C58DFE30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CAAA-C924-FBF1-E6CA-EBB8FC58F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6383C-B7F9-6D30-E607-2CBE9D8EC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A1C38-7EE6-B577-A9FE-164A7613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4D263-DC7C-3BBD-4391-1AD7F126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74D68-6ECC-22A6-D93A-F94A8334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21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766A-0F2B-99C3-DA18-F826157A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6065D-7C12-1C74-2B43-B0ECCEBCB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C537C-D02B-51F7-D79C-72AA2E5E9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99745-FF50-C766-33D9-5088F3C1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A220A-2DAF-4D1D-63FA-349E94DF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1BF3C-4158-7480-3C58-D258F485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1809-34C5-775D-A146-10DDEB20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F71D9-9D37-38CB-23C8-84CAFA50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62CF-2F29-7607-8BC6-FA650264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753CB-6C79-B36A-76FF-D16346E2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66915-7E2C-A51A-E6D2-BEFF3B89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2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72A8C9-46A5-E541-E3B3-9220D956D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36504-44D1-0154-F125-8E5D2621D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E769-EC12-F0E1-4D3A-137E18C4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51706-EABB-DDD7-C021-D2E23123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10F0F-12B5-9CA6-7D17-9E60EF46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0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374D2-9756-6CBF-D5D8-81B86798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3BD1E-C9F1-2172-9AAF-1A64CC32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B3D95-A3C5-21AA-7E2A-7CBD5AD5F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DF7D6-43EF-4CD7-AB27-C0C40C6A63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56997-B2DE-1B28-5BDE-4B5AFB60C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59D7E-5B9C-4A33-389F-492DDEE3E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5BB3E-9AE4-4EFD-ADF0-196C308A7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9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11AC5397-B23D-A664-72AD-ADA8FF8EC052}"/>
              </a:ext>
            </a:extLst>
          </p:cNvPr>
          <p:cNvSpPr/>
          <p:nvPr/>
        </p:nvSpPr>
        <p:spPr>
          <a:xfrm>
            <a:off x="820817" y="1377397"/>
            <a:ext cx="2485600" cy="2710900"/>
          </a:xfrm>
          <a:prstGeom prst="flowChartAlternateProcess">
            <a:avLst/>
          </a:prstGeom>
          <a:solidFill>
            <a:srgbClr val="ECF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67161553-56F9-F3E6-74A4-72BB4404A175}"/>
              </a:ext>
            </a:extLst>
          </p:cNvPr>
          <p:cNvSpPr/>
          <p:nvPr/>
        </p:nvSpPr>
        <p:spPr>
          <a:xfrm>
            <a:off x="820818" y="1377396"/>
            <a:ext cx="2485599" cy="5640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Origen de datos</a:t>
            </a:r>
          </a:p>
        </p:txBody>
      </p:sp>
      <p:pic>
        <p:nvPicPr>
          <p:cNvPr id="45" name="Graphic 44" descr="Database outline">
            <a:extLst>
              <a:ext uri="{FF2B5EF4-FFF2-40B4-BE49-F238E27FC236}">
                <a16:creationId xmlns:a16="http://schemas.microsoft.com/office/drawing/2014/main" id="{F02AD6B2-628E-5AED-3FEF-5A154E05D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6417" y="2442603"/>
            <a:ext cx="914400" cy="914400"/>
          </a:xfrm>
          <a:prstGeom prst="rect">
            <a:avLst/>
          </a:prstGeom>
        </p:spPr>
      </p:pic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61F2F204-06C6-622F-2BD4-12406E07F6AA}"/>
              </a:ext>
            </a:extLst>
          </p:cNvPr>
          <p:cNvSpPr/>
          <p:nvPr/>
        </p:nvSpPr>
        <p:spPr>
          <a:xfrm>
            <a:off x="3676661" y="1377396"/>
            <a:ext cx="2618122" cy="3287369"/>
          </a:xfrm>
          <a:prstGeom prst="flowChartAlternateProcess">
            <a:avLst/>
          </a:prstGeom>
          <a:solidFill>
            <a:srgbClr val="ECFFF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4D0FE6BB-F741-A0AB-BE66-9C56E836E980}"/>
              </a:ext>
            </a:extLst>
          </p:cNvPr>
          <p:cNvSpPr/>
          <p:nvPr/>
        </p:nvSpPr>
        <p:spPr>
          <a:xfrm>
            <a:off x="3676662" y="1377396"/>
            <a:ext cx="2618121" cy="5640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Análisis de datos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C03008B-B1A5-A274-0DB6-F60A4C375A79}"/>
              </a:ext>
            </a:extLst>
          </p:cNvPr>
          <p:cNvSpPr/>
          <p:nvPr/>
        </p:nvSpPr>
        <p:spPr>
          <a:xfrm>
            <a:off x="3803375" y="2674699"/>
            <a:ext cx="2358886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Selección de Features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BF9C410-2AC4-7452-4C73-897B762E3D9C}"/>
              </a:ext>
            </a:extLst>
          </p:cNvPr>
          <p:cNvSpPr/>
          <p:nvPr/>
        </p:nvSpPr>
        <p:spPr>
          <a:xfrm>
            <a:off x="3803375" y="3313933"/>
            <a:ext cx="2358886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Extracción de Features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2503649-4C3C-F981-6B0A-5537D29A612C}"/>
              </a:ext>
            </a:extLst>
          </p:cNvPr>
          <p:cNvSpPr/>
          <p:nvPr/>
        </p:nvSpPr>
        <p:spPr>
          <a:xfrm>
            <a:off x="3803374" y="3953167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Ingeniería de Features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55B6408-9311-9D4B-90E5-3CED7421CCB3}"/>
              </a:ext>
            </a:extLst>
          </p:cNvPr>
          <p:cNvSpPr/>
          <p:nvPr/>
        </p:nvSpPr>
        <p:spPr>
          <a:xfrm>
            <a:off x="3803375" y="2032289"/>
            <a:ext cx="2358886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Tratamiento de desbalance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247F2723-7458-7655-DFC6-EDF87C6FE201}"/>
              </a:ext>
            </a:extLst>
          </p:cNvPr>
          <p:cNvSpPr/>
          <p:nvPr/>
        </p:nvSpPr>
        <p:spPr>
          <a:xfrm>
            <a:off x="6552379" y="1377397"/>
            <a:ext cx="2618121" cy="3287368"/>
          </a:xfrm>
          <a:prstGeom prst="flowChartAlternateProcess">
            <a:avLst/>
          </a:prstGeom>
          <a:solidFill>
            <a:srgbClr val="ECF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ABD59A45-4992-39DD-EF45-31AF78D32230}"/>
              </a:ext>
            </a:extLst>
          </p:cNvPr>
          <p:cNvSpPr/>
          <p:nvPr/>
        </p:nvSpPr>
        <p:spPr>
          <a:xfrm>
            <a:off x="6552381" y="1377396"/>
            <a:ext cx="2618119" cy="5640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Entrenamiento de modelos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31FC902-D6CA-3F5C-6440-D5A60158FD59}"/>
              </a:ext>
            </a:extLst>
          </p:cNvPr>
          <p:cNvSpPr/>
          <p:nvPr/>
        </p:nvSpPr>
        <p:spPr>
          <a:xfrm>
            <a:off x="6665027" y="2032289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Optimización de Hiperparámetros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9AD9371-1BEB-A029-604A-60BE9BAFE218}"/>
              </a:ext>
            </a:extLst>
          </p:cNvPr>
          <p:cNvSpPr/>
          <p:nvPr/>
        </p:nvSpPr>
        <p:spPr>
          <a:xfrm>
            <a:off x="6665027" y="2674699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Logistic Regression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9821C02-D510-37E8-1F0C-CD9A05158924}"/>
              </a:ext>
            </a:extLst>
          </p:cNvPr>
          <p:cNvSpPr/>
          <p:nvPr/>
        </p:nvSpPr>
        <p:spPr>
          <a:xfrm>
            <a:off x="6665026" y="3313932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SVM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4F8A70B-138D-C3CD-13E4-BDA422749882}"/>
              </a:ext>
            </a:extLst>
          </p:cNvPr>
          <p:cNvSpPr/>
          <p:nvPr/>
        </p:nvSpPr>
        <p:spPr>
          <a:xfrm>
            <a:off x="6681996" y="3953167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Métodos de Boosting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5A01EA1A-CFF9-E0EC-1117-19B1C6251624}"/>
              </a:ext>
            </a:extLst>
          </p:cNvPr>
          <p:cNvSpPr/>
          <p:nvPr/>
        </p:nvSpPr>
        <p:spPr>
          <a:xfrm>
            <a:off x="9276521" y="1377397"/>
            <a:ext cx="2618121" cy="3287368"/>
          </a:xfrm>
          <a:prstGeom prst="flowChartAlternateProcess">
            <a:avLst/>
          </a:prstGeom>
          <a:solidFill>
            <a:srgbClr val="ECF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: Top Corners Rounded 68">
            <a:extLst>
              <a:ext uri="{FF2B5EF4-FFF2-40B4-BE49-F238E27FC236}">
                <a16:creationId xmlns:a16="http://schemas.microsoft.com/office/drawing/2014/main" id="{89FE83F7-CFF9-E5A2-B472-03E80F0B357E}"/>
              </a:ext>
            </a:extLst>
          </p:cNvPr>
          <p:cNvSpPr/>
          <p:nvPr/>
        </p:nvSpPr>
        <p:spPr>
          <a:xfrm>
            <a:off x="9276523" y="1377396"/>
            <a:ext cx="2618119" cy="56404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2E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Evaluación y Refinamiento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7C68C4C-9776-2731-B004-AD297FA48D37}"/>
              </a:ext>
            </a:extLst>
          </p:cNvPr>
          <p:cNvSpPr/>
          <p:nvPr/>
        </p:nvSpPr>
        <p:spPr>
          <a:xfrm>
            <a:off x="9389169" y="2032289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Evaluación de Modelos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6C0C710-E6D0-16D3-3301-FFCA36E1679D}"/>
              </a:ext>
            </a:extLst>
          </p:cNvPr>
          <p:cNvSpPr/>
          <p:nvPr/>
        </p:nvSpPr>
        <p:spPr>
          <a:xfrm>
            <a:off x="9406141" y="2674699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Comparación de resultados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C0CB14D-9B58-7529-E7AB-C57E8935DE3D}"/>
              </a:ext>
            </a:extLst>
          </p:cNvPr>
          <p:cNvSpPr/>
          <p:nvPr/>
        </p:nvSpPr>
        <p:spPr>
          <a:xfrm>
            <a:off x="9406138" y="3313932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Refinamiento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57D2AF2-71AA-9B8E-EEDC-A668F7D007AD}"/>
              </a:ext>
            </a:extLst>
          </p:cNvPr>
          <p:cNvSpPr/>
          <p:nvPr/>
        </p:nvSpPr>
        <p:spPr>
          <a:xfrm>
            <a:off x="9389168" y="3949593"/>
            <a:ext cx="2358885" cy="509733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Métodos de Boosting</a:t>
            </a:r>
          </a:p>
        </p:txBody>
      </p:sp>
    </p:spTree>
    <p:extLst>
      <p:ext uri="{BB962C8B-B14F-4D97-AF65-F5344CB8AC3E}">
        <p14:creationId xmlns:p14="http://schemas.microsoft.com/office/powerpoint/2010/main" val="50213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58966-E1F2-DF0E-585B-A6A93256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22DD70-BBDF-96AD-F42C-3606CD39C1E9}"/>
              </a:ext>
            </a:extLst>
          </p:cNvPr>
          <p:cNvGrpSpPr/>
          <p:nvPr/>
        </p:nvGrpSpPr>
        <p:grpSpPr>
          <a:xfrm>
            <a:off x="435684" y="1377396"/>
            <a:ext cx="2485600" cy="271090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2FB52731-7BE8-E4FD-4CBB-9CECE259BC7E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62DBBFB7-5F80-6B2A-E9B5-4A92E2FCAA85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853A68AD-14EC-BE72-3832-2D47654C4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BA29D65-7B91-4B69-D285-080E472557A3}"/>
              </a:ext>
            </a:extLst>
          </p:cNvPr>
          <p:cNvGrpSpPr/>
          <p:nvPr/>
        </p:nvGrpSpPr>
        <p:grpSpPr>
          <a:xfrm>
            <a:off x="3199582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F066FF95-59F8-B3BE-D6D2-43781F281FD3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863CC728-5A23-744B-1F88-9B814E773215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Análisis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90A0313-3DB8-FA54-6B09-76D964FB1C3F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84DDD95-CCF0-E9BE-49A9-740752FEA6D4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BBF5861-E522-CE26-377E-5CB907E1966B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DB5CB80-FA0F-901B-D631-8B0FFBD797FD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B05498-5E8F-D983-316B-5F82378404B4}"/>
              </a:ext>
            </a:extLst>
          </p:cNvPr>
          <p:cNvGrpSpPr/>
          <p:nvPr/>
        </p:nvGrpSpPr>
        <p:grpSpPr>
          <a:xfrm>
            <a:off x="6096000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DAA3A1FB-B423-4436-FA15-9D364B5D5612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101F0D86-92F6-34DE-2A84-A7CE1A950BE9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053BCBB-6915-FC74-3DB4-04E418387D9C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BBB7556-FF8F-07D9-72F8-FE1E44625BB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758B3CE-AE1B-CBC5-789A-FAFF84E6676F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BAFA793-3600-83B2-0868-DB56483C69F7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70671A-2681-942A-CD4F-7E59C2FD5ADA}"/>
              </a:ext>
            </a:extLst>
          </p:cNvPr>
          <p:cNvGrpSpPr/>
          <p:nvPr/>
        </p:nvGrpSpPr>
        <p:grpSpPr>
          <a:xfrm>
            <a:off x="8992417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16D47339-D590-EA2A-7A15-414888C201EE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B7421B35-C557-3DEA-9C47-AAAD329FB7B3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DCC5F04-A87F-4349-D974-E7CB3C4A67D3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3A4FBA3-811D-C6F9-686F-2D51EB7046D2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5F22C87-7D5D-076E-2243-74F2C70FD42A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BA46743-7C96-5857-2FAC-D682FC3897E8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70ED116F-7275-49F5-4A5A-1A046DA5EE7E}"/>
              </a:ext>
            </a:extLst>
          </p:cNvPr>
          <p:cNvSpPr/>
          <p:nvPr/>
        </p:nvSpPr>
        <p:spPr>
          <a:xfrm>
            <a:off x="8634615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9C09CD-098C-C59C-74AE-3035A5947B76}"/>
              </a:ext>
            </a:extLst>
          </p:cNvPr>
          <p:cNvSpPr/>
          <p:nvPr/>
        </p:nvSpPr>
        <p:spPr>
          <a:xfrm>
            <a:off x="5758069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37A3C8F-F7A0-192F-C9E5-4FAFD5169CB5}"/>
              </a:ext>
            </a:extLst>
          </p:cNvPr>
          <p:cNvSpPr/>
          <p:nvPr/>
        </p:nvSpPr>
        <p:spPr>
          <a:xfrm>
            <a:off x="2825615" y="2855139"/>
            <a:ext cx="410818" cy="319462"/>
          </a:xfrm>
          <a:prstGeom prst="rightArrow">
            <a:avLst/>
          </a:prstGeom>
          <a:solidFill>
            <a:srgbClr val="CFE6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E3252-B69B-A3F9-CA6F-EA94B25B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7785F48-621A-8CC4-3174-20DE949F33F3}"/>
              </a:ext>
            </a:extLst>
          </p:cNvPr>
          <p:cNvGrpSpPr/>
          <p:nvPr/>
        </p:nvGrpSpPr>
        <p:grpSpPr>
          <a:xfrm>
            <a:off x="223646" y="1665629"/>
            <a:ext cx="2485600" cy="271090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276CF9BC-4ACB-75EE-4494-2E502903FFB9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B5D55C59-664A-F82D-2C80-3FF2FCE97530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B1999C5C-8DF5-7A6B-BE31-36444031A9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391FD90-7C70-D696-8EE9-A52FED7465A5}"/>
              </a:ext>
            </a:extLst>
          </p:cNvPr>
          <p:cNvGrpSpPr/>
          <p:nvPr/>
        </p:nvGrpSpPr>
        <p:grpSpPr>
          <a:xfrm>
            <a:off x="3093563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72352B47-1B46-ED73-45D4-28ABA2A459F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6C5236C4-8037-680C-11A2-819B4753B076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BE2F7F1-E9A5-98B9-67F9-794E38153881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522DCE9-30B0-F649-8C7A-8B21D67808D9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8672BFD-725D-8977-980A-05771024FAC3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EFA4ED1-2C9E-66A5-714E-D56C8ED7A618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nulos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6D1D699-561D-EC7A-8D3F-1BB35ED4BD9E}"/>
              </a:ext>
            </a:extLst>
          </p:cNvPr>
          <p:cNvGrpSpPr/>
          <p:nvPr/>
        </p:nvGrpSpPr>
        <p:grpSpPr>
          <a:xfrm>
            <a:off x="6096000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A2CE759D-9D89-0DAE-BA6F-E2A25D2CF38F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3467B12F-2D0E-A66D-8764-BCC358791826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E4FCE0F-4D87-2F0E-DD0C-6A65EDF48DC0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B993FDB0-7849-3933-DE33-A160237F973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847F9A4-7F91-8C75-44A0-CC5859834A65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04104FF-0729-556A-D908-22F8076F10F0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59BB648-ECA3-892C-3F7E-E33D052947ED}"/>
              </a:ext>
            </a:extLst>
          </p:cNvPr>
          <p:cNvGrpSpPr/>
          <p:nvPr/>
        </p:nvGrpSpPr>
        <p:grpSpPr>
          <a:xfrm>
            <a:off x="9098436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F5BE33EB-EACA-85D6-8BCF-851FD2447650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A615A468-87F9-F494-0C9D-FC710EA5C8C7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1183FDE-7B65-9471-CA65-30337F9F63B5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Implementación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FEB305A-BDE0-B88E-1532-ED83C3DE4A24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D38AD9CE-809F-7221-D08D-84E0A079F333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35095F0E-99AE-9CBE-C5D0-B1451AFE0B6B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9AA04982-9E2E-0466-5FEB-1B4E3085390D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8906279" y="3163547"/>
            <a:ext cx="12700" cy="3002436"/>
          </a:xfrm>
          <a:prstGeom prst="curvedConnector3">
            <a:avLst>
              <a:gd name="adj1" fmla="val 383478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2518722A-807E-B91A-2CC7-8B24CC49130A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7405061" y="1662329"/>
            <a:ext cx="12700" cy="6004873"/>
          </a:xfrm>
          <a:prstGeom prst="curvedConnector3">
            <a:avLst>
              <a:gd name="adj1" fmla="val 5139126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081BA6-B4F9-DD25-1D88-683ED04E4C49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2709246" y="3021080"/>
            <a:ext cx="384317" cy="1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D8F7DA-E077-697E-CC98-A81BBCAC59AF}"/>
              </a:ext>
            </a:extLst>
          </p:cNvPr>
          <p:cNvCxnSpPr>
            <a:cxnSpLocks/>
            <a:stCxn id="48" idx="3"/>
            <a:endCxn id="60" idx="1"/>
          </p:cNvCxnSpPr>
          <p:nvPr/>
        </p:nvCxnSpPr>
        <p:spPr>
          <a:xfrm>
            <a:off x="5711685" y="3021081"/>
            <a:ext cx="38431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F4A24E-D1F9-7D12-D2B1-2A627CDB0A70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8714121" y="3021081"/>
            <a:ext cx="38431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76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6881B-6B18-6260-A895-2507D0EE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E301AE-6739-AC8A-8E85-64E099D7EB11}"/>
              </a:ext>
            </a:extLst>
          </p:cNvPr>
          <p:cNvSpPr/>
          <p:nvPr/>
        </p:nvSpPr>
        <p:spPr>
          <a:xfrm>
            <a:off x="2288658" y="503582"/>
            <a:ext cx="9679695" cy="4977021"/>
          </a:xfrm>
          <a:prstGeom prst="rect">
            <a:avLst/>
          </a:prstGeom>
          <a:solidFill>
            <a:srgbClr val="CFE6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F9EE2F-2080-C895-9E5C-DA80F6D3F483}"/>
              </a:ext>
            </a:extLst>
          </p:cNvPr>
          <p:cNvGrpSpPr/>
          <p:nvPr/>
        </p:nvGrpSpPr>
        <p:grpSpPr>
          <a:xfrm>
            <a:off x="42438" y="1691326"/>
            <a:ext cx="2638391" cy="2952577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CA616688-2B33-D0D8-F32D-1B8BCBE03412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8A33BF76-CF97-6A23-6E96-886947D66C9C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8B5094F6-ADC5-57D5-DDCB-1CCB830FD7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B3CCF3-7C53-CBF6-7B72-5F7B419C8CFA}"/>
              </a:ext>
            </a:extLst>
          </p:cNvPr>
          <p:cNvGrpSpPr/>
          <p:nvPr/>
        </p:nvGrpSpPr>
        <p:grpSpPr>
          <a:xfrm>
            <a:off x="2932625" y="1377396"/>
            <a:ext cx="2779060" cy="3580437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AEBE877D-0794-7B25-E775-E7B0B68BC3E2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155C932F-A882-C7E4-354D-09CC7A10A621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8A6E7D3-BC95-D224-A96F-7EF8BB9A9E0D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52CBA95-3DB1-6FDE-2545-CB9C1480D7C9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8C34FD4-1CCA-AE0F-5928-8B694B74B337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5B4F25E-28DC-973D-4D09-00BBBE1467DD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nulos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580821F-FF5C-6BD3-D4D9-8C914DEA8DE9}"/>
              </a:ext>
            </a:extLst>
          </p:cNvPr>
          <p:cNvGrpSpPr/>
          <p:nvPr/>
        </p:nvGrpSpPr>
        <p:grpSpPr>
          <a:xfrm>
            <a:off x="5935062" y="1377396"/>
            <a:ext cx="2779059" cy="3580437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840ACBF0-0E88-4124-8A0E-CB4F161DFB1A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905BD273-79D1-FA82-7960-114879001D1A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8ACBBE49-B17D-95E2-3251-213CE8ACC63A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FFD6D56-8A82-4033-FF17-8BEE1BB361AF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7B3BD16-8B28-3B8F-303D-6DC399590087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B4E31D5-E242-6802-5BB9-392FD2CB8321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5C17A8B-CD5D-027D-9B42-7A6FF1A659D0}"/>
              </a:ext>
            </a:extLst>
          </p:cNvPr>
          <p:cNvGrpSpPr/>
          <p:nvPr/>
        </p:nvGrpSpPr>
        <p:grpSpPr>
          <a:xfrm>
            <a:off x="8937498" y="1377396"/>
            <a:ext cx="2779059" cy="3580437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A0ECF5FB-6E08-B24E-8C76-547A3386F8CB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5CA49C9A-2D96-14BD-EA65-714CE7BC01EB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5B45896-B2C3-A4C5-C276-2652ECB7AC07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Implementación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AFCF9C9-584A-F6B1-50A9-AC462E3F8B66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A751361-F905-B310-59B5-AEFF05D60CC7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20BADC2-4763-9F79-7124-054FAE094B53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4291616F-F49E-4947-9F6F-71223F75812A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8825810" y="3456615"/>
            <a:ext cx="12700" cy="3002436"/>
          </a:xfrm>
          <a:prstGeom prst="curvedConnector3">
            <a:avLst>
              <a:gd name="adj1" fmla="val 18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3DAB1C0B-C055-A1F0-7108-2D690117FA2C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7324592" y="1955397"/>
            <a:ext cx="12700" cy="6004873"/>
          </a:xfrm>
          <a:prstGeom prst="curvedConnector3">
            <a:avLst>
              <a:gd name="adj1" fmla="val 3306976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A7E60A-8140-F132-B676-47A8698E6E86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2680829" y="3167615"/>
            <a:ext cx="251796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A331C6-E50D-8DC4-C895-8FE57C50B7E7}"/>
              </a:ext>
            </a:extLst>
          </p:cNvPr>
          <p:cNvCxnSpPr>
            <a:cxnSpLocks/>
            <a:stCxn id="48" idx="3"/>
            <a:endCxn id="60" idx="1"/>
          </p:cNvCxnSpPr>
          <p:nvPr/>
        </p:nvCxnSpPr>
        <p:spPr>
          <a:xfrm>
            <a:off x="5711685" y="3167615"/>
            <a:ext cx="223377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7DB6D7-6DBB-D731-2D1E-CF964ACD2CD3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8714121" y="3167615"/>
            <a:ext cx="223377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1AFD77-7869-2C98-26CB-36908F3F8795}"/>
              </a:ext>
            </a:extLst>
          </p:cNvPr>
          <p:cNvSpPr/>
          <p:nvPr/>
        </p:nvSpPr>
        <p:spPr>
          <a:xfrm>
            <a:off x="5780896" y="221562"/>
            <a:ext cx="3038427" cy="614326"/>
          </a:xfrm>
          <a:prstGeom prst="roundRect">
            <a:avLst/>
          </a:prstGeom>
          <a:solidFill>
            <a:srgbClr val="132E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/>
              <a:t>MLFlow</a:t>
            </a:r>
          </a:p>
        </p:txBody>
      </p:sp>
    </p:spTree>
    <p:extLst>
      <p:ext uri="{BB962C8B-B14F-4D97-AF65-F5344CB8AC3E}">
        <p14:creationId xmlns:p14="http://schemas.microsoft.com/office/powerpoint/2010/main" val="122502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61E28-5B69-67F0-0FD2-B37967C6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5229C1-DE57-962A-A665-BAA460538352}"/>
              </a:ext>
            </a:extLst>
          </p:cNvPr>
          <p:cNvGrpSpPr/>
          <p:nvPr/>
        </p:nvGrpSpPr>
        <p:grpSpPr>
          <a:xfrm>
            <a:off x="429877" y="1377396"/>
            <a:ext cx="2485600" cy="271090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9107D4F2-2BE1-5294-42A2-82AB0941978B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5B0C73E2-068A-28D0-B102-81A5649C36D7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CDC023D6-D5CF-5EA2-E2D5-CFB5AA8B8A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BF73C6-D29A-B419-1259-094EBC62981B}"/>
              </a:ext>
            </a:extLst>
          </p:cNvPr>
          <p:cNvGrpSpPr/>
          <p:nvPr/>
        </p:nvGrpSpPr>
        <p:grpSpPr>
          <a:xfrm>
            <a:off x="3160644" y="1377396"/>
            <a:ext cx="2618122" cy="3287369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E851C655-B195-8677-3131-B19780D6DA4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C29A25EB-4578-2928-32DC-25A38B447665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Análisis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483B9C5-FA81-96B5-78DD-B6ACAF3B3516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1215BC-B231-48CE-2987-9883A44E9F00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Extracción de Features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ACDE46E-8B3D-C119-01EC-808DC2B64F0F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Ingeniería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D668770-645A-4FEC-E418-75D2DA25D10A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66B6574-A333-C69D-AD8C-50D3E9987EE4}"/>
              </a:ext>
            </a:extLst>
          </p:cNvPr>
          <p:cNvGrpSpPr/>
          <p:nvPr/>
        </p:nvGrpSpPr>
        <p:grpSpPr>
          <a:xfrm>
            <a:off x="5905479" y="1377396"/>
            <a:ext cx="2618121" cy="3287369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2C27A16A-4BDC-A4CB-AE0A-9F9B09230C4C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BDFC4036-B294-3F38-EDC3-452D6C33097A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BA151B86-6EC9-4832-B948-D3E7100E44E8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8635BE31-9EE9-CC91-F7B8-CE0BB36D3990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D78386C-348E-6564-9A86-7CC3E1587141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0E2F3C35-B976-D2FE-9A92-25266DBF3A55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131BFF-B14C-A7DA-C3C0-E99DFC9B953C}"/>
              </a:ext>
            </a:extLst>
          </p:cNvPr>
          <p:cNvGrpSpPr/>
          <p:nvPr/>
        </p:nvGrpSpPr>
        <p:grpSpPr>
          <a:xfrm>
            <a:off x="8650313" y="1377396"/>
            <a:ext cx="2618121" cy="3287369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E0FDF49-DD72-6127-D323-236A63B9B23F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C81BFB56-4FF8-6025-01CF-68B44C636235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Refinamiento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F6EB6532-692F-BFE3-0C5A-9CF48A3E1845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D1A6E56E-1725-22E0-9BD9-0B5BF095ECC0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7C14BBA-384A-2F9E-D889-117857C966C3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64730720-7C6E-596C-52A0-8642222CE64D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Métodos de Boosting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23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0DC06-6B77-7089-E43F-87C597EE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DD56E6-B9C1-D780-2114-2050740D5683}"/>
              </a:ext>
            </a:extLst>
          </p:cNvPr>
          <p:cNvSpPr/>
          <p:nvPr/>
        </p:nvSpPr>
        <p:spPr>
          <a:xfrm>
            <a:off x="1521382" y="673465"/>
            <a:ext cx="9045019" cy="4977021"/>
          </a:xfrm>
          <a:prstGeom prst="rect">
            <a:avLst/>
          </a:prstGeom>
          <a:solidFill>
            <a:srgbClr val="CFE6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040469-7958-911A-D659-852FF735450F}"/>
              </a:ext>
            </a:extLst>
          </p:cNvPr>
          <p:cNvGrpSpPr/>
          <p:nvPr/>
        </p:nvGrpSpPr>
        <p:grpSpPr>
          <a:xfrm>
            <a:off x="133977" y="2217989"/>
            <a:ext cx="1807993" cy="2226491"/>
            <a:chOff x="820817" y="1377396"/>
            <a:chExt cx="2485600" cy="2710901"/>
          </a:xfrm>
        </p:grpSpPr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0C475BE4-1D4A-585E-EB85-3FC0FC8E8AF5}"/>
                </a:ext>
              </a:extLst>
            </p:cNvPr>
            <p:cNvSpPr/>
            <p:nvPr/>
          </p:nvSpPr>
          <p:spPr>
            <a:xfrm>
              <a:off x="820817" y="1377397"/>
              <a:ext cx="2485600" cy="271090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B35115BE-C54B-871D-CB50-B8A6B8E682D2}"/>
                </a:ext>
              </a:extLst>
            </p:cNvPr>
            <p:cNvSpPr/>
            <p:nvPr/>
          </p:nvSpPr>
          <p:spPr>
            <a:xfrm>
              <a:off x="820818" y="1377396"/>
              <a:ext cx="248559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Origen de datos</a:t>
              </a:r>
            </a:p>
          </p:txBody>
        </p:sp>
        <p:pic>
          <p:nvPicPr>
            <p:cNvPr id="45" name="Graphic 44" descr="Database outline">
              <a:extLst>
                <a:ext uri="{FF2B5EF4-FFF2-40B4-BE49-F238E27FC236}">
                  <a16:creationId xmlns:a16="http://schemas.microsoft.com/office/drawing/2014/main" id="{EE4DE4E2-F6B9-B9C3-8D68-4DFF591357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6417" y="244260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C08A672-528E-41C0-3510-929D6EEE4A48}"/>
              </a:ext>
            </a:extLst>
          </p:cNvPr>
          <p:cNvGrpSpPr/>
          <p:nvPr/>
        </p:nvGrpSpPr>
        <p:grpSpPr>
          <a:xfrm>
            <a:off x="2104574" y="1647373"/>
            <a:ext cx="2493804" cy="3407773"/>
            <a:chOff x="3676661" y="1377396"/>
            <a:chExt cx="2618122" cy="3287369"/>
          </a:xfrm>
        </p:grpSpPr>
        <p:sp>
          <p:nvSpPr>
            <p:cNvPr id="48" name="Flowchart: Alternate Process 47">
              <a:extLst>
                <a:ext uri="{FF2B5EF4-FFF2-40B4-BE49-F238E27FC236}">
                  <a16:creationId xmlns:a16="http://schemas.microsoft.com/office/drawing/2014/main" id="{1D81EE3A-D8B5-D1B3-EF94-602F4453090A}"/>
                </a:ext>
              </a:extLst>
            </p:cNvPr>
            <p:cNvSpPr/>
            <p:nvPr/>
          </p:nvSpPr>
          <p:spPr>
            <a:xfrm>
              <a:off x="3676661" y="1377396"/>
              <a:ext cx="2618122" cy="3287369"/>
            </a:xfrm>
            <a:prstGeom prst="flowChartAlternateProcess">
              <a:avLst/>
            </a:prstGeom>
            <a:solidFill>
              <a:srgbClr val="ECFFF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7A8B3916-9E20-F2AD-64F6-02F534712D87}"/>
                </a:ext>
              </a:extLst>
            </p:cNvPr>
            <p:cNvSpPr/>
            <p:nvPr/>
          </p:nvSpPr>
          <p:spPr>
            <a:xfrm>
              <a:off x="3676662" y="1377396"/>
              <a:ext cx="2618121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Preprocesamiento de datos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9FFD18E-0D87-0CE1-14F0-65039766C0C3}"/>
                </a:ext>
              </a:extLst>
            </p:cNvPr>
            <p:cNvSpPr/>
            <p:nvPr/>
          </p:nvSpPr>
          <p:spPr>
            <a:xfrm>
              <a:off x="3803375" y="267469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outliers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0EB2DFB-B53C-6023-1813-4A13755D9F5D}"/>
                </a:ext>
              </a:extLst>
            </p:cNvPr>
            <p:cNvSpPr/>
            <p:nvPr/>
          </p:nvSpPr>
          <p:spPr>
            <a:xfrm>
              <a:off x="3803375" y="3313933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Tratamiento de desbalance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86014B7-564A-5ADE-9104-AA687198A517}"/>
                </a:ext>
              </a:extLst>
            </p:cNvPr>
            <p:cNvSpPr/>
            <p:nvPr/>
          </p:nvSpPr>
          <p:spPr>
            <a:xfrm>
              <a:off x="3803374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Features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C9F4A5B-32EE-06F1-BB8B-104E67683D26}"/>
                </a:ext>
              </a:extLst>
            </p:cNvPr>
            <p:cNvSpPr/>
            <p:nvPr/>
          </p:nvSpPr>
          <p:spPr>
            <a:xfrm>
              <a:off x="3803375" y="2032289"/>
              <a:ext cx="2358886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División en train y test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0DEF6B9-983B-70BF-0A8D-838FC2E27D89}"/>
              </a:ext>
            </a:extLst>
          </p:cNvPr>
          <p:cNvGrpSpPr/>
          <p:nvPr/>
        </p:nvGrpSpPr>
        <p:grpSpPr>
          <a:xfrm>
            <a:off x="4845754" y="1647373"/>
            <a:ext cx="2493803" cy="3407773"/>
            <a:chOff x="6552379" y="1377396"/>
            <a:chExt cx="2618121" cy="3287369"/>
          </a:xfrm>
        </p:grpSpPr>
        <p:sp>
          <p:nvSpPr>
            <p:cNvPr id="60" name="Flowchart: Alternate Process 59">
              <a:extLst>
                <a:ext uri="{FF2B5EF4-FFF2-40B4-BE49-F238E27FC236}">
                  <a16:creationId xmlns:a16="http://schemas.microsoft.com/office/drawing/2014/main" id="{FDA6CF9B-F0B5-F198-5E87-8C7EE91EEC68}"/>
                </a:ext>
              </a:extLst>
            </p:cNvPr>
            <p:cNvSpPr/>
            <p:nvPr/>
          </p:nvSpPr>
          <p:spPr>
            <a:xfrm>
              <a:off x="6552379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Top Corners Rounded 60">
              <a:extLst>
                <a:ext uri="{FF2B5EF4-FFF2-40B4-BE49-F238E27FC236}">
                  <a16:creationId xmlns:a16="http://schemas.microsoft.com/office/drawing/2014/main" id="{307235BC-F3E6-E648-74E8-46B842DF99AF}"/>
                </a:ext>
              </a:extLst>
            </p:cNvPr>
            <p:cNvSpPr/>
            <p:nvPr/>
          </p:nvSpPr>
          <p:spPr>
            <a:xfrm>
              <a:off x="6552381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Entrenamiento de modelos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8CD2CE9E-F542-CF90-1751-38793FB9FA2F}"/>
                </a:ext>
              </a:extLst>
            </p:cNvPr>
            <p:cNvSpPr/>
            <p:nvPr/>
          </p:nvSpPr>
          <p:spPr>
            <a:xfrm>
              <a:off x="6665027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Optimización de Hiperparámetros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387C2D4B-AF01-C281-6E4D-DE40FA993927}"/>
                </a:ext>
              </a:extLst>
            </p:cNvPr>
            <p:cNvSpPr/>
            <p:nvPr/>
          </p:nvSpPr>
          <p:spPr>
            <a:xfrm>
              <a:off x="6665027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Logistic Regression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55A560D-42BB-E19F-6F46-D5943110C407}"/>
                </a:ext>
              </a:extLst>
            </p:cNvPr>
            <p:cNvSpPr/>
            <p:nvPr/>
          </p:nvSpPr>
          <p:spPr>
            <a:xfrm>
              <a:off x="6665026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SVM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98D3696D-E9A0-89BA-D70B-9BA6AAD62A54}"/>
                </a:ext>
              </a:extLst>
            </p:cNvPr>
            <p:cNvSpPr/>
            <p:nvPr/>
          </p:nvSpPr>
          <p:spPr>
            <a:xfrm>
              <a:off x="6681996" y="3953167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XGBoost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9B13A-42F6-F12C-BB44-E45BB1B5C675}"/>
              </a:ext>
            </a:extLst>
          </p:cNvPr>
          <p:cNvGrpSpPr/>
          <p:nvPr/>
        </p:nvGrpSpPr>
        <p:grpSpPr>
          <a:xfrm>
            <a:off x="7594191" y="1647373"/>
            <a:ext cx="2493803" cy="3407773"/>
            <a:chOff x="9276521" y="1377396"/>
            <a:chExt cx="2618121" cy="3287369"/>
          </a:xfrm>
        </p:grpSpPr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BED14374-AF3A-2992-B45C-4CB63FBB1BF8}"/>
                </a:ext>
              </a:extLst>
            </p:cNvPr>
            <p:cNvSpPr/>
            <p:nvPr/>
          </p:nvSpPr>
          <p:spPr>
            <a:xfrm>
              <a:off x="9276521" y="1377397"/>
              <a:ext cx="2618121" cy="3287368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83FAA3D5-CA43-798E-417F-A7FAC5A667F0}"/>
                </a:ext>
              </a:extLst>
            </p:cNvPr>
            <p:cNvSpPr/>
            <p:nvPr/>
          </p:nvSpPr>
          <p:spPr>
            <a:xfrm>
              <a:off x="9276523" y="1377396"/>
              <a:ext cx="2618119" cy="5640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Evaluación y </a:t>
              </a:r>
              <a:r>
                <a:rPr lang="en-US" dirty="0" err="1"/>
                <a:t>refinamiento</a:t>
              </a:r>
              <a:endParaRPr lang="en-US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7277B5E-D895-D6A2-880B-58BD33273DA0}"/>
                </a:ext>
              </a:extLst>
            </p:cNvPr>
            <p:cNvSpPr/>
            <p:nvPr/>
          </p:nvSpPr>
          <p:spPr>
            <a:xfrm>
              <a:off x="9389169" y="203228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Evaluación de Modelos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E27D177-5694-DE30-7C8E-43D0E910B5EC}"/>
                </a:ext>
              </a:extLst>
            </p:cNvPr>
            <p:cNvSpPr/>
            <p:nvPr/>
          </p:nvSpPr>
          <p:spPr>
            <a:xfrm>
              <a:off x="9406141" y="2674699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Comparación de resultados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D6C3C5F-9471-756A-08D9-89044C8896FC}"/>
                </a:ext>
              </a:extLst>
            </p:cNvPr>
            <p:cNvSpPr/>
            <p:nvPr/>
          </p:nvSpPr>
          <p:spPr>
            <a:xfrm>
              <a:off x="9406138" y="3313932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Selección de mejor modelo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3AF28B99-ACEC-F701-AB44-0EE903497AF0}"/>
                </a:ext>
              </a:extLst>
            </p:cNvPr>
            <p:cNvSpPr/>
            <p:nvPr/>
          </p:nvSpPr>
          <p:spPr>
            <a:xfrm>
              <a:off x="9389168" y="3949593"/>
              <a:ext cx="2358885" cy="509733"/>
            </a:xfrm>
            <a:prstGeom prst="roundRect">
              <a:avLst/>
            </a:prstGeom>
            <a:solidFill>
              <a:srgbClr val="CFE6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6350">
                    <a:solidFill>
                      <a:schemeClr val="accent1">
                        <a:shade val="15000"/>
                      </a:schemeClr>
                    </a:solidFill>
                  </a:ln>
                  <a:solidFill>
                    <a:schemeClr val="tx1"/>
                  </a:solidFill>
                </a:rPr>
                <a:t>Refinamiento</a:t>
              </a:r>
            </a:p>
          </p:txBody>
        </p:sp>
      </p:grp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F83EB39-90EB-C707-C8BB-4D253FEE5B78}"/>
              </a:ext>
            </a:extLst>
          </p:cNvPr>
          <p:cNvCxnSpPr>
            <a:cxnSpLocks/>
            <a:stCxn id="68" idx="2"/>
            <a:endCxn id="60" idx="2"/>
          </p:cNvCxnSpPr>
          <p:nvPr/>
        </p:nvCxnSpPr>
        <p:spPr>
          <a:xfrm rot="5400000">
            <a:off x="7466875" y="3680928"/>
            <a:ext cx="12700" cy="2748437"/>
          </a:xfrm>
          <a:prstGeom prst="curvedConnector3">
            <a:avLst>
              <a:gd name="adj1" fmla="val 18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2628EF1-74D5-2075-84F0-78292E5FA3B9}"/>
              </a:ext>
            </a:extLst>
          </p:cNvPr>
          <p:cNvCxnSpPr>
            <a:cxnSpLocks/>
            <a:stCxn id="68" idx="2"/>
            <a:endCxn id="48" idx="2"/>
          </p:cNvCxnSpPr>
          <p:nvPr/>
        </p:nvCxnSpPr>
        <p:spPr>
          <a:xfrm rot="5400000">
            <a:off x="6096285" y="2310338"/>
            <a:ext cx="12700" cy="5489617"/>
          </a:xfrm>
          <a:prstGeom prst="curvedConnector3">
            <a:avLst>
              <a:gd name="adj1" fmla="val 3400000"/>
            </a:avLst>
          </a:prstGeom>
          <a:ln w="31750">
            <a:solidFill>
              <a:srgbClr val="00463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1F106D-8B73-E608-78B8-EDD80E161BB1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941969" y="3351260"/>
            <a:ext cx="162605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DB85E1-4AFC-3CF6-47F0-D3D9E5AA86A0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634663" y="3351260"/>
            <a:ext cx="211091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CB1B35-77F8-5C5B-8E3A-F0CC4DC6EAC1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7339557" y="3351260"/>
            <a:ext cx="254634" cy="0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84D3EF-2963-2418-F47B-90CD6D6CA3D3}"/>
              </a:ext>
            </a:extLst>
          </p:cNvPr>
          <p:cNvSpPr/>
          <p:nvPr/>
        </p:nvSpPr>
        <p:spPr>
          <a:xfrm>
            <a:off x="4579792" y="437707"/>
            <a:ext cx="3038427" cy="614326"/>
          </a:xfrm>
          <a:prstGeom prst="roundRect">
            <a:avLst/>
          </a:prstGeom>
          <a:solidFill>
            <a:srgbClr val="132E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/>
              <a:t>MLOps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AD510A-6732-B4FE-AAB4-9164A0A2E775}"/>
              </a:ext>
            </a:extLst>
          </p:cNvPr>
          <p:cNvGrpSpPr/>
          <p:nvPr/>
        </p:nvGrpSpPr>
        <p:grpSpPr>
          <a:xfrm>
            <a:off x="10245596" y="2217989"/>
            <a:ext cx="1807993" cy="2226491"/>
            <a:chOff x="10384007" y="2138160"/>
            <a:chExt cx="1807993" cy="2226491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2D9E5788-A6B1-470B-BCC4-0A8CE6267709}"/>
                </a:ext>
              </a:extLst>
            </p:cNvPr>
            <p:cNvSpPr/>
            <p:nvPr/>
          </p:nvSpPr>
          <p:spPr>
            <a:xfrm>
              <a:off x="10384007" y="2138161"/>
              <a:ext cx="1807993" cy="2226490"/>
            </a:xfrm>
            <a:prstGeom prst="flowChartAlternateProcess">
              <a:avLst/>
            </a:prstGeom>
            <a:solidFill>
              <a:srgbClr val="ECF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5EC2D544-4248-EB06-0A8D-45982A2D4E4B}"/>
                </a:ext>
              </a:extLst>
            </p:cNvPr>
            <p:cNvSpPr/>
            <p:nvPr/>
          </p:nvSpPr>
          <p:spPr>
            <a:xfrm>
              <a:off x="10384008" y="2138160"/>
              <a:ext cx="1807992" cy="463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32E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Servicio web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6F2FF5-D79B-930E-01FA-A14D79BFD8CE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10087994" y="3351260"/>
            <a:ext cx="150847" cy="12794"/>
          </a:xfrm>
          <a:prstGeom prst="straightConnector1">
            <a:avLst/>
          </a:prstGeom>
          <a:ln w="38100">
            <a:solidFill>
              <a:srgbClr val="0046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437975-3FED-41C0-0186-3FBA555F4F0E}"/>
              </a:ext>
            </a:extLst>
          </p:cNvPr>
          <p:cNvSpPr/>
          <p:nvPr/>
        </p:nvSpPr>
        <p:spPr>
          <a:xfrm>
            <a:off x="10342628" y="2900796"/>
            <a:ext cx="1646810" cy="463258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Predicciones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029372-908C-B566-F6B1-6933C7DAF976}"/>
              </a:ext>
            </a:extLst>
          </p:cNvPr>
          <p:cNvSpPr/>
          <p:nvPr/>
        </p:nvSpPr>
        <p:spPr>
          <a:xfrm>
            <a:off x="10326187" y="3594474"/>
            <a:ext cx="1646810" cy="463258"/>
          </a:xfrm>
          <a:prstGeom prst="roundRect">
            <a:avLst/>
          </a:prstGeom>
          <a:solidFill>
            <a:srgbClr val="CFE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6350"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48466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266</Words>
  <Application>Microsoft Office PowerPoint</Application>
  <PresentationFormat>Widescreen</PresentationFormat>
  <Paragraphs>102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Gaspar Acevedo</dc:creator>
  <cp:lastModifiedBy>Gaspar Acevedo</cp:lastModifiedBy>
  <cp:revision>27</cp:revision>
  <dcterms:created xsi:type="dcterms:W3CDTF">2025-07-05T21:37:59Z</dcterms:created>
  <dcterms:modified xsi:type="dcterms:W3CDTF">2026-05-16T22:08:41Z</dcterms:modified>
</cp:coreProperties>
</file>