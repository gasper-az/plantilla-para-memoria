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2" r:id="rId3"/>
    <p:sldId id="264" r:id="rId4"/>
    <p:sldId id="265" r:id="rId5"/>
    <p:sldId id="256" r:id="rId6"/>
    <p:sldId id="258" r:id="rId7"/>
    <p:sldId id="259" r:id="rId8"/>
    <p:sldId id="260" r:id="rId9"/>
    <p:sldId id="25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3F"/>
    <a:srgbClr val="CFE6D6"/>
    <a:srgbClr val="ECFFF2"/>
    <a:srgbClr val="132E49"/>
    <a:srgbClr val="6FE6D6"/>
    <a:srgbClr val="6FE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8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9F65C-4503-46EF-A20F-62732069D2F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D6730-F15C-4D12-93E1-878ABF97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4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D6730-F15C-4D12-93E1-878ABF9708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6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96A0-E081-FC7C-1699-5EA7E0D34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1F613-8904-D8FB-98F0-400E26F84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00F0-7300-5F65-0678-13271F90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F566-EA6D-ADA9-DC27-F354C9CE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2C420-F035-477B-629F-61779C52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0AEE-13F1-0EEA-33D7-10E744DA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9EE6-D4F4-1809-876A-3FCE04A2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923F1-A1F8-4A88-4E1F-B63D6EBF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626C-9A0D-4D0C-F9F5-53DDFBD7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3C767-57B2-9616-9A9B-8E0C8F4A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5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0B56-9AB9-588C-EFFE-CA7192AD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CD548-7AEF-1633-07ED-93E6B1C84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C6036-8533-822E-286A-0D354E2E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0621E-7364-24F8-DDF5-9AE4B57A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A7B55-5651-6CA0-6D18-F8E1D46A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6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EF60-43B5-D65C-0B5E-C0DECA20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BFF4-6E28-6B69-2CBF-4107AEC5B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E4FD9-F74A-50FF-2021-A17C73625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8498A-C329-B4BE-3347-31D8C335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79284-4516-0F2B-1201-38D35B4B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F57AB-0EE3-03CB-23F9-C42048FE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94E7-5D57-E5DE-9038-5219738C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D7A8-DCF0-92A4-F411-814B266FC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8F26E-1751-838C-CF5F-5F2745932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D71D7-6020-1DF0-122E-DF418D538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4E2FB9-64E6-6916-EECB-C30B54E31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FE535-EFAB-72D9-5297-0AC2650B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F63CC-7DC8-D2FB-9A72-B370098B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F41D8-DC96-72B5-FBD4-0DC14C80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9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2352-54F3-0E02-1F1F-E918D6AD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622A6-A754-1680-EF5E-A3E086E8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1F4D6-96DF-B566-61CB-E1D5495B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ED972-ED76-6B4A-89B6-2C42D58A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F80E3-EE12-395A-C5D8-072EC8A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760C3-29CA-BFDF-16E7-E683088F9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ABAF0-6996-D553-2B35-011860D9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53C7-D9B8-1345-69BA-C58DFE30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CAAA-C924-FBF1-E6CA-EBB8FC58F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6383C-B7F9-6D30-E607-2CBE9D8EC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A1C38-7EE6-B577-A9FE-164A7613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4D263-DC7C-3BBD-4391-1AD7F126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74D68-6ECC-22A6-D93A-F94A8334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21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766A-0F2B-99C3-DA18-F826157A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6065D-7C12-1C74-2B43-B0ECCEBCB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C537C-D02B-51F7-D79C-72AA2E5E9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99745-FF50-C766-33D9-5088F3C1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A220A-2DAF-4D1D-63FA-349E94DF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1BF3C-4158-7480-3C58-D258F485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1809-34C5-775D-A146-10DDEB20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F71D9-9D37-38CB-23C8-84CAFA50D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462CF-2F29-7607-8BC6-FA650264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753CB-6C79-B36A-76FF-D16346E2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66915-7E2C-A51A-E6D2-BEFF3B89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2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2A8C9-46A5-E541-E3B3-9220D956D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36504-44D1-0154-F125-8E5D2621D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8E769-EC12-F0E1-4D3A-137E18C4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51706-EABB-DDD7-C021-D2E23123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10F0F-12B5-9CA6-7D17-9E60EF46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0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374D2-9756-6CBF-D5D8-81B86798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3BD1E-C9F1-2172-9AAF-1A64CC32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B3D95-A3C5-21AA-7E2A-7CBD5AD5F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56997-B2DE-1B28-5BDE-4B5AFB60C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59D7E-5B9C-4A33-389F-492DDEE3E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9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4.svg"/><Relationship Id="rId7" Type="http://schemas.openxmlformats.org/officeDocument/2006/relationships/hyperlink" Target="https://commons.wikimedia.org/wiki/File:Microsoft_Excel_2013-2019_logo.svg" TargetMode="External"/><Relationship Id="rId12" Type="http://schemas.openxmlformats.org/officeDocument/2006/relationships/image" Target="../media/image17.svg"/><Relationship Id="rId2" Type="http://schemas.openxmlformats.org/officeDocument/2006/relationships/image" Target="../media/image2.sv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svg"/><Relationship Id="rId5" Type="http://schemas.openxmlformats.org/officeDocument/2006/relationships/hyperlink" Target="https://crowintelligence.org/2021/04/30/getting-started-with-jupyter-is-freely-available-on-manning-liveproject/" TargetMode="External"/><Relationship Id="rId15" Type="http://schemas.openxmlformats.org/officeDocument/2006/relationships/image" Target="../media/image20.svg"/><Relationship Id="rId10" Type="http://schemas.openxmlformats.org/officeDocument/2006/relationships/image" Target="../media/image15.svg"/><Relationship Id="rId4" Type="http://schemas.openxmlformats.org/officeDocument/2006/relationships/image" Target="../media/image11.pn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Microsoft_Excel_2013-2019_logo.svg" TargetMode="External"/><Relationship Id="rId13" Type="http://schemas.openxmlformats.org/officeDocument/2006/relationships/image" Target="../media/image24.svg"/><Relationship Id="rId3" Type="http://schemas.openxmlformats.org/officeDocument/2006/relationships/image" Target="../media/image2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3.svg"/><Relationship Id="rId5" Type="http://schemas.openxmlformats.org/officeDocument/2006/relationships/hyperlink" Target="https://crowintelligence.org/2021/04/30/getting-started-with-jupyter-is-freely-available-on-manning-liveproject/" TargetMode="External"/><Relationship Id="rId10" Type="http://schemas.openxmlformats.org/officeDocument/2006/relationships/image" Target="../media/image14.svg"/><Relationship Id="rId4" Type="http://schemas.openxmlformats.org/officeDocument/2006/relationships/image" Target="../media/image11.png"/><Relationship Id="rId9" Type="http://schemas.openxmlformats.org/officeDocument/2006/relationships/image" Target="../media/image23.sv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E50C1-68F3-BB1E-A91A-597EC5116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674D65E6-CD99-FFD5-C3C3-167E6AF24B18}"/>
              </a:ext>
            </a:extLst>
          </p:cNvPr>
          <p:cNvSpPr/>
          <p:nvPr/>
        </p:nvSpPr>
        <p:spPr>
          <a:xfrm rot="10800000">
            <a:off x="817808" y="624624"/>
            <a:ext cx="9723550" cy="5664494"/>
          </a:xfrm>
          <a:prstGeom prst="round2SameRect">
            <a:avLst>
              <a:gd name="adj1" fmla="val 8411"/>
              <a:gd name="adj2" fmla="val 0"/>
            </a:avLst>
          </a:prstGeom>
          <a:solidFill>
            <a:srgbClr val="ECFFF2"/>
          </a:solidFill>
          <a:ln>
            <a:solidFill>
              <a:srgbClr val="ECFF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01694EF-88CE-B34C-F096-AE7396C57E9F}"/>
              </a:ext>
            </a:extLst>
          </p:cNvPr>
          <p:cNvSpPr/>
          <p:nvPr/>
        </p:nvSpPr>
        <p:spPr>
          <a:xfrm>
            <a:off x="817809" y="134585"/>
            <a:ext cx="9723550" cy="57375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Sistema de predicción de quiebra de empresas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ECF8753-7707-F948-1824-404943B3AAD0}"/>
              </a:ext>
            </a:extLst>
          </p:cNvPr>
          <p:cNvGrpSpPr/>
          <p:nvPr/>
        </p:nvGrpSpPr>
        <p:grpSpPr>
          <a:xfrm>
            <a:off x="1486865" y="894976"/>
            <a:ext cx="2691751" cy="2192629"/>
            <a:chOff x="1126835" y="1236371"/>
            <a:chExt cx="2691751" cy="21926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3047BE-EB0B-2260-E75C-FA4EED5B84A8}"/>
                </a:ext>
              </a:extLst>
            </p:cNvPr>
            <p:cNvSpPr/>
            <p:nvPr/>
          </p:nvSpPr>
          <p:spPr>
            <a:xfrm>
              <a:off x="1128923" y="1236371"/>
              <a:ext cx="2689663" cy="2192629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1DDA77-C3CA-55B1-E574-8D2ABC92EC50}"/>
                </a:ext>
              </a:extLst>
            </p:cNvPr>
            <p:cNvSpPr txBox="1"/>
            <p:nvPr/>
          </p:nvSpPr>
          <p:spPr>
            <a:xfrm>
              <a:off x="1126835" y="1279609"/>
              <a:ext cx="26896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Módulo de preprocesamiento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4703FD6-A86E-551F-4749-1437C6F7E654}"/>
                </a:ext>
              </a:extLst>
            </p:cNvPr>
            <p:cNvGrpSpPr/>
            <p:nvPr/>
          </p:nvGrpSpPr>
          <p:grpSpPr>
            <a:xfrm>
              <a:off x="1307206" y="1609098"/>
              <a:ext cx="2328929" cy="438643"/>
              <a:chOff x="3078051" y="2021983"/>
              <a:chExt cx="2328929" cy="43864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DE35B27-AF57-60FB-721E-C2139D6A432E}"/>
                  </a:ext>
                </a:extLst>
              </p:cNvPr>
              <p:cNvSpPr/>
              <p:nvPr/>
            </p:nvSpPr>
            <p:spPr>
              <a:xfrm>
                <a:off x="3078051" y="2021983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A5CB0E-F565-A052-7F55-1194C72D2A5F}"/>
                  </a:ext>
                </a:extLst>
              </p:cNvPr>
              <p:cNvSpPr txBox="1"/>
              <p:nvPr/>
            </p:nvSpPr>
            <p:spPr>
              <a:xfrm>
                <a:off x="3078051" y="2085413"/>
                <a:ext cx="23289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Descarga de dataset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BF863EC-366E-BB2B-731C-22449E0EEE6B}"/>
                </a:ext>
              </a:extLst>
            </p:cNvPr>
            <p:cNvGrpSpPr/>
            <p:nvPr/>
          </p:nvGrpSpPr>
          <p:grpSpPr>
            <a:xfrm>
              <a:off x="1307204" y="2226558"/>
              <a:ext cx="2328930" cy="438643"/>
              <a:chOff x="4099774" y="2684847"/>
              <a:chExt cx="2328930" cy="43864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6B5AE4-230C-324A-A8C3-140C2ED04722}"/>
                  </a:ext>
                </a:extLst>
              </p:cNvPr>
              <p:cNvSpPr/>
              <p:nvPr/>
            </p:nvSpPr>
            <p:spPr>
              <a:xfrm>
                <a:off x="4099775" y="2684847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EB454-337C-9F18-4905-460F27CB5639}"/>
                  </a:ext>
                </a:extLst>
              </p:cNvPr>
              <p:cNvSpPr txBox="1"/>
              <p:nvPr/>
            </p:nvSpPr>
            <p:spPr>
              <a:xfrm>
                <a:off x="4099774" y="2750279"/>
                <a:ext cx="23289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División en train y test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DE740AE-C8E9-691E-793C-195E861181A7}"/>
                </a:ext>
              </a:extLst>
            </p:cNvPr>
            <p:cNvGrpSpPr/>
            <p:nvPr/>
          </p:nvGrpSpPr>
          <p:grpSpPr>
            <a:xfrm>
              <a:off x="1307204" y="2837800"/>
              <a:ext cx="2328930" cy="438643"/>
              <a:chOff x="4099774" y="2684847"/>
              <a:chExt cx="2328930" cy="43864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0564BF94-060B-6CDC-9ACC-A3DB9D6F1139}"/>
                  </a:ext>
                </a:extLst>
              </p:cNvPr>
              <p:cNvSpPr/>
              <p:nvPr/>
            </p:nvSpPr>
            <p:spPr>
              <a:xfrm>
                <a:off x="4099775" y="2684847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C4411A5-10D6-6F86-3FA5-6D1A9289AF38}"/>
                  </a:ext>
                </a:extLst>
              </p:cNvPr>
              <p:cNvSpPr txBox="1"/>
              <p:nvPr/>
            </p:nvSpPr>
            <p:spPr>
              <a:xfrm>
                <a:off x="4099774" y="2750279"/>
                <a:ext cx="23289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Preprocesamiento</a:t>
                </a:r>
              </a:p>
            </p:txBody>
          </p:sp>
        </p:grpSp>
        <p:sp>
          <p:nvSpPr>
            <p:cNvPr id="83" name="Arrow: Right 82">
              <a:extLst>
                <a:ext uri="{FF2B5EF4-FFF2-40B4-BE49-F238E27FC236}">
                  <a16:creationId xmlns:a16="http://schemas.microsoft.com/office/drawing/2014/main" id="{FA04188D-2C26-EDC2-0B74-0446A26F2C92}"/>
                </a:ext>
              </a:extLst>
            </p:cNvPr>
            <p:cNvSpPr/>
            <p:nvPr/>
          </p:nvSpPr>
          <p:spPr>
            <a:xfrm rot="5400000">
              <a:off x="2266259" y="2009050"/>
              <a:ext cx="410818" cy="319462"/>
            </a:xfrm>
            <a:prstGeom prst="rightArrow">
              <a:avLst/>
            </a:prstGeom>
            <a:solidFill>
              <a:srgbClr val="CFE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Arrow: Right 83">
              <a:extLst>
                <a:ext uri="{FF2B5EF4-FFF2-40B4-BE49-F238E27FC236}">
                  <a16:creationId xmlns:a16="http://schemas.microsoft.com/office/drawing/2014/main" id="{6939E5E0-A096-62F1-8F34-9B26CE04C480}"/>
                </a:ext>
              </a:extLst>
            </p:cNvPr>
            <p:cNvSpPr/>
            <p:nvPr/>
          </p:nvSpPr>
          <p:spPr>
            <a:xfrm rot="5400000">
              <a:off x="2266259" y="2591742"/>
              <a:ext cx="410818" cy="319462"/>
            </a:xfrm>
            <a:prstGeom prst="rightArrow">
              <a:avLst/>
            </a:prstGeom>
            <a:solidFill>
              <a:srgbClr val="CFE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4" name="Arrow: Bent 203">
            <a:extLst>
              <a:ext uri="{FF2B5EF4-FFF2-40B4-BE49-F238E27FC236}">
                <a16:creationId xmlns:a16="http://schemas.microsoft.com/office/drawing/2014/main" id="{305257FD-917F-B6C8-93B1-184530DE77AB}"/>
              </a:ext>
            </a:extLst>
          </p:cNvPr>
          <p:cNvSpPr/>
          <p:nvPr/>
        </p:nvSpPr>
        <p:spPr>
          <a:xfrm rot="5400000" flipH="1">
            <a:off x="5776398" y="3995679"/>
            <a:ext cx="679944" cy="1289639"/>
          </a:xfrm>
          <a:prstGeom prst="bentArrow">
            <a:avLst>
              <a:gd name="adj1" fmla="val 25000"/>
              <a:gd name="adj2" fmla="val 25000"/>
              <a:gd name="adj3" fmla="val 34239"/>
              <a:gd name="adj4" fmla="val 43750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7FBBDE2-65B0-553F-8EC1-327D2D43FADE}"/>
              </a:ext>
            </a:extLst>
          </p:cNvPr>
          <p:cNvGrpSpPr/>
          <p:nvPr/>
        </p:nvGrpSpPr>
        <p:grpSpPr>
          <a:xfrm>
            <a:off x="9973802" y="2450031"/>
            <a:ext cx="1304202" cy="1639079"/>
            <a:chOff x="10349523" y="2456903"/>
            <a:chExt cx="1304202" cy="1639079"/>
          </a:xfrm>
        </p:grpSpPr>
        <p:sp>
          <p:nvSpPr>
            <p:cNvPr id="216" name="Flowchart: Alternate Process 215">
              <a:extLst>
                <a:ext uri="{FF2B5EF4-FFF2-40B4-BE49-F238E27FC236}">
                  <a16:creationId xmlns:a16="http://schemas.microsoft.com/office/drawing/2014/main" id="{4E7DBF52-8507-BBA0-F588-382F5C65378D}"/>
                </a:ext>
              </a:extLst>
            </p:cNvPr>
            <p:cNvSpPr/>
            <p:nvPr/>
          </p:nvSpPr>
          <p:spPr>
            <a:xfrm>
              <a:off x="10349523" y="2456904"/>
              <a:ext cx="1304200" cy="1639078"/>
            </a:xfrm>
            <a:prstGeom prst="flowChartAlternateProcess">
              <a:avLst/>
            </a:prstGeom>
            <a:solidFill>
              <a:srgbClr val="CFE6D6"/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: Top Corners Rounded 216">
              <a:extLst>
                <a:ext uri="{FF2B5EF4-FFF2-40B4-BE49-F238E27FC236}">
                  <a16:creationId xmlns:a16="http://schemas.microsoft.com/office/drawing/2014/main" id="{737BFF7F-FFAE-5DA2-DBE4-F98DB2D9EAF5}"/>
                </a:ext>
              </a:extLst>
            </p:cNvPr>
            <p:cNvSpPr/>
            <p:nvPr/>
          </p:nvSpPr>
          <p:spPr>
            <a:xfrm>
              <a:off x="10349525" y="245690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Consultas de Usuario</a:t>
              </a:r>
            </a:p>
          </p:txBody>
        </p:sp>
        <p:pic>
          <p:nvPicPr>
            <p:cNvPr id="219" name="Graphic 218" descr="User with solid fill">
              <a:extLst>
                <a:ext uri="{FF2B5EF4-FFF2-40B4-BE49-F238E27FC236}">
                  <a16:creationId xmlns:a16="http://schemas.microsoft.com/office/drawing/2014/main" id="{83EF8C8B-EE36-9A5C-7D6F-0856EA39C9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55294" y="2976093"/>
              <a:ext cx="914400" cy="914400"/>
            </a:xfrm>
            <a:prstGeom prst="rect">
              <a:avLst/>
            </a:prstGeom>
          </p:spPr>
        </p:pic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0B4AE22-4D01-D114-0657-A1EAFA483B68}"/>
              </a:ext>
            </a:extLst>
          </p:cNvPr>
          <p:cNvGrpSpPr/>
          <p:nvPr/>
        </p:nvGrpSpPr>
        <p:grpSpPr>
          <a:xfrm>
            <a:off x="88528" y="2355142"/>
            <a:ext cx="1304202" cy="1639079"/>
            <a:chOff x="228780" y="4263453"/>
            <a:chExt cx="1304202" cy="1639079"/>
          </a:xfrm>
        </p:grpSpPr>
        <p:sp>
          <p:nvSpPr>
            <p:cNvPr id="224" name="Flowchart: Alternate Process 223">
              <a:extLst>
                <a:ext uri="{FF2B5EF4-FFF2-40B4-BE49-F238E27FC236}">
                  <a16:creationId xmlns:a16="http://schemas.microsoft.com/office/drawing/2014/main" id="{57130DC3-19BA-26CD-6A3D-22D68D461B74}"/>
                </a:ext>
              </a:extLst>
            </p:cNvPr>
            <p:cNvSpPr/>
            <p:nvPr/>
          </p:nvSpPr>
          <p:spPr>
            <a:xfrm>
              <a:off x="228780" y="4263454"/>
              <a:ext cx="1304200" cy="1639078"/>
            </a:xfrm>
            <a:prstGeom prst="flowChartAlternateProcess">
              <a:avLst/>
            </a:prstGeom>
            <a:solidFill>
              <a:srgbClr val="CFE6D6"/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: Top Corners Rounded 224">
              <a:extLst>
                <a:ext uri="{FF2B5EF4-FFF2-40B4-BE49-F238E27FC236}">
                  <a16:creationId xmlns:a16="http://schemas.microsoft.com/office/drawing/2014/main" id="{6F19F2E6-C5BA-B331-2684-C1AAF0C0E84F}"/>
                </a:ext>
              </a:extLst>
            </p:cNvPr>
            <p:cNvSpPr/>
            <p:nvPr/>
          </p:nvSpPr>
          <p:spPr>
            <a:xfrm>
              <a:off x="228782" y="426345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Origen de datos</a:t>
              </a:r>
            </a:p>
          </p:txBody>
        </p:sp>
        <p:pic>
          <p:nvPicPr>
            <p:cNvPr id="227" name="Graphic 226" descr="Database with solid fill">
              <a:extLst>
                <a:ext uri="{FF2B5EF4-FFF2-40B4-BE49-F238E27FC236}">
                  <a16:creationId xmlns:a16="http://schemas.microsoft.com/office/drawing/2014/main" id="{EB88FCF4-44AE-10C1-7180-91A0D8F674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80" y="4846818"/>
              <a:ext cx="914400" cy="9144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F8EDF1-CAD5-E6E5-DB95-922B1172E137}"/>
              </a:ext>
            </a:extLst>
          </p:cNvPr>
          <p:cNvGrpSpPr/>
          <p:nvPr/>
        </p:nvGrpSpPr>
        <p:grpSpPr>
          <a:xfrm>
            <a:off x="4887506" y="894976"/>
            <a:ext cx="3907339" cy="1365541"/>
            <a:chOff x="6845834" y="5265109"/>
            <a:chExt cx="3907339" cy="136554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0AF6292-AADE-58B1-3D05-7704CF823E79}"/>
                </a:ext>
              </a:extLst>
            </p:cNvPr>
            <p:cNvGrpSpPr/>
            <p:nvPr/>
          </p:nvGrpSpPr>
          <p:grpSpPr>
            <a:xfrm>
              <a:off x="6845834" y="5265109"/>
              <a:ext cx="3907339" cy="1365541"/>
              <a:chOff x="3599640" y="5048138"/>
              <a:chExt cx="4114293" cy="136554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B5E719B-F1CF-9379-0AFD-2EDECB37C6D5}"/>
                  </a:ext>
                </a:extLst>
              </p:cNvPr>
              <p:cNvSpPr/>
              <p:nvPr/>
            </p:nvSpPr>
            <p:spPr>
              <a:xfrm>
                <a:off x="3599641" y="5048138"/>
                <a:ext cx="4114292" cy="136554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0A7815-FDB1-9E59-C8E9-5119F21F2795}"/>
                  </a:ext>
                </a:extLst>
              </p:cNvPr>
              <p:cNvSpPr txBox="1"/>
              <p:nvPr/>
            </p:nvSpPr>
            <p:spPr>
              <a:xfrm>
                <a:off x="3599640" y="5059144"/>
                <a:ext cx="41142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Tracking server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6C8618F-9AAA-E21D-E781-5BEDBF0D3F78}"/>
                </a:ext>
              </a:extLst>
            </p:cNvPr>
            <p:cNvGrpSpPr/>
            <p:nvPr/>
          </p:nvGrpSpPr>
          <p:grpSpPr>
            <a:xfrm>
              <a:off x="9546892" y="5677498"/>
              <a:ext cx="1109159" cy="843061"/>
              <a:chOff x="11478921" y="5320228"/>
              <a:chExt cx="1109159" cy="843061"/>
            </a:xfrm>
          </p:grpSpPr>
          <p:pic>
            <p:nvPicPr>
              <p:cNvPr id="25" name="Graphic 24" descr="Document with solid fill">
                <a:extLst>
                  <a:ext uri="{FF2B5EF4-FFF2-40B4-BE49-F238E27FC236}">
                    <a16:creationId xmlns:a16="http://schemas.microsoft.com/office/drawing/2014/main" id="{B4DE0DD2-4018-DC57-55E4-ED10538BF8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707461" y="5320228"/>
                <a:ext cx="679265" cy="67926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1AD34F-C96F-A9A6-3B68-1403DECB06AE}"/>
                  </a:ext>
                </a:extLst>
              </p:cNvPr>
              <p:cNvSpPr txBox="1"/>
              <p:nvPr/>
            </p:nvSpPr>
            <p:spPr>
              <a:xfrm>
                <a:off x="11478921" y="5886290"/>
                <a:ext cx="11091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Mejor modelo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D820E6-4D5A-2189-084E-79CBBF4E15F1}"/>
                </a:ext>
              </a:extLst>
            </p:cNvPr>
            <p:cNvGrpSpPr/>
            <p:nvPr/>
          </p:nvGrpSpPr>
          <p:grpSpPr>
            <a:xfrm>
              <a:off x="6950091" y="5551117"/>
              <a:ext cx="914400" cy="914400"/>
              <a:chOff x="4456770" y="6202747"/>
              <a:chExt cx="914400" cy="914400"/>
            </a:xfrm>
          </p:grpSpPr>
          <p:pic>
            <p:nvPicPr>
              <p:cNvPr id="31" name="Graphic 30" descr="Folder with solid fill">
                <a:extLst>
                  <a:ext uri="{FF2B5EF4-FFF2-40B4-BE49-F238E27FC236}">
                    <a16:creationId xmlns:a16="http://schemas.microsoft.com/office/drawing/2014/main" id="{B86A084A-49D5-BA49-AC8C-5414CDF68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56770" y="6202747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E7F698-60D9-29F6-A470-278D3C0891B9}"/>
                  </a:ext>
                </a:extLst>
              </p:cNvPr>
              <p:cNvSpPr txBox="1"/>
              <p:nvPr/>
            </p:nvSpPr>
            <p:spPr>
              <a:xfrm>
                <a:off x="4479828" y="6552564"/>
                <a:ext cx="8875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Modelos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5E2787-89B8-8147-3774-379744F1343E}"/>
              </a:ext>
            </a:extLst>
          </p:cNvPr>
          <p:cNvGrpSpPr/>
          <p:nvPr/>
        </p:nvGrpSpPr>
        <p:grpSpPr>
          <a:xfrm>
            <a:off x="5482833" y="3040618"/>
            <a:ext cx="2203601" cy="1255933"/>
            <a:chOff x="6747644" y="5317202"/>
            <a:chExt cx="2203601" cy="125593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A62E286-2AF0-DD18-5E50-3CF968F9AE8C}"/>
                </a:ext>
              </a:extLst>
            </p:cNvPr>
            <p:cNvSpPr/>
            <p:nvPr/>
          </p:nvSpPr>
          <p:spPr>
            <a:xfrm>
              <a:off x="6818612" y="5317202"/>
              <a:ext cx="2043272" cy="1255933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1F94DD-574E-405C-F856-7D186D0032A9}"/>
                </a:ext>
              </a:extLst>
            </p:cNvPr>
            <p:cNvSpPr txBox="1"/>
            <p:nvPr/>
          </p:nvSpPr>
          <p:spPr>
            <a:xfrm>
              <a:off x="6816003" y="5318913"/>
              <a:ext cx="2043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Mejor modelo</a:t>
              </a:r>
            </a:p>
          </p:txBody>
        </p:sp>
        <p:pic>
          <p:nvPicPr>
            <p:cNvPr id="49" name="Graphic 48" descr="Gears with solid fill">
              <a:extLst>
                <a:ext uri="{FF2B5EF4-FFF2-40B4-BE49-F238E27FC236}">
                  <a16:creationId xmlns:a16="http://schemas.microsoft.com/office/drawing/2014/main" id="{ABC5697B-B318-0D95-E58B-F25696B322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14468" y="5546155"/>
              <a:ext cx="801112" cy="801112"/>
            </a:xfrm>
            <a:prstGeom prst="rect">
              <a:avLst/>
            </a:prstGeom>
          </p:spPr>
        </p:pic>
        <p:pic>
          <p:nvPicPr>
            <p:cNvPr id="50" name="Graphic 49" descr="Single gear with solid fill">
              <a:extLst>
                <a:ext uri="{FF2B5EF4-FFF2-40B4-BE49-F238E27FC236}">
                  <a16:creationId xmlns:a16="http://schemas.microsoft.com/office/drawing/2014/main" id="{8D2E2158-76FE-5B5C-D83A-D6591D32A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72103" y="5538696"/>
              <a:ext cx="775653" cy="77565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C798D49-3B92-53B0-6FC7-F39788077186}"/>
                </a:ext>
              </a:extLst>
            </p:cNvPr>
            <p:cNvSpPr txBox="1"/>
            <p:nvPr/>
          </p:nvSpPr>
          <p:spPr>
            <a:xfrm>
              <a:off x="6747644" y="6244021"/>
              <a:ext cx="1271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Comparación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E68121B-108F-F77D-3EDA-D90600A853A1}"/>
                </a:ext>
              </a:extLst>
            </p:cNvPr>
            <p:cNvSpPr txBox="1"/>
            <p:nvPr/>
          </p:nvSpPr>
          <p:spPr>
            <a:xfrm>
              <a:off x="7842086" y="6244021"/>
              <a:ext cx="11091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Selección</a:t>
              </a:r>
            </a:p>
          </p:txBody>
        </p:sp>
      </p:grp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59858AA2-5DDC-70BC-2359-60B0D21280A8}"/>
              </a:ext>
            </a:extLst>
          </p:cNvPr>
          <p:cNvSpPr/>
          <p:nvPr/>
        </p:nvSpPr>
        <p:spPr>
          <a:xfrm rot="16200000">
            <a:off x="6188613" y="2501402"/>
            <a:ext cx="758971" cy="319462"/>
          </a:xfrm>
          <a:prstGeom prst="rightArrow">
            <a:avLst>
              <a:gd name="adj1" fmla="val 50000"/>
              <a:gd name="adj2" fmla="val 62095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Arrow: Bent 54">
            <a:extLst>
              <a:ext uri="{FF2B5EF4-FFF2-40B4-BE49-F238E27FC236}">
                <a16:creationId xmlns:a16="http://schemas.microsoft.com/office/drawing/2014/main" id="{F09FE16F-2EB2-FC9D-880C-89C66E500D4B}"/>
              </a:ext>
            </a:extLst>
          </p:cNvPr>
          <p:cNvSpPr/>
          <p:nvPr/>
        </p:nvSpPr>
        <p:spPr>
          <a:xfrm>
            <a:off x="4327001" y="1479645"/>
            <a:ext cx="541802" cy="2072040"/>
          </a:xfrm>
          <a:prstGeom prst="bentArrow">
            <a:avLst/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BB90F2C-B776-9166-3175-F4EC0724819F}"/>
              </a:ext>
            </a:extLst>
          </p:cNvPr>
          <p:cNvGrpSpPr/>
          <p:nvPr/>
        </p:nvGrpSpPr>
        <p:grpSpPr>
          <a:xfrm>
            <a:off x="1486865" y="3511032"/>
            <a:ext cx="3988163" cy="2627338"/>
            <a:chOff x="3981904" y="1237040"/>
            <a:chExt cx="4850915" cy="318041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180D752-2A76-D2FB-3D4E-6915B6002D9B}"/>
                </a:ext>
              </a:extLst>
            </p:cNvPr>
            <p:cNvSpPr/>
            <p:nvPr/>
          </p:nvSpPr>
          <p:spPr>
            <a:xfrm>
              <a:off x="3981904" y="1244891"/>
              <a:ext cx="4838037" cy="317256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EB8AAEE-2F28-9D71-A2B4-187B39256235}"/>
                </a:ext>
              </a:extLst>
            </p:cNvPr>
            <p:cNvGrpSpPr/>
            <p:nvPr/>
          </p:nvGrpSpPr>
          <p:grpSpPr>
            <a:xfrm>
              <a:off x="4129701" y="1587387"/>
              <a:ext cx="4520548" cy="830283"/>
              <a:chOff x="2414725" y="3550819"/>
              <a:chExt cx="4520548" cy="830282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E20D6A2-F18D-60D5-5AE1-41743C1E036C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0D85728-2CB0-B6D5-D43E-F5ED71979028}"/>
                  </a:ext>
                </a:extLst>
              </p:cNvPr>
              <p:cNvGrpSpPr/>
              <p:nvPr/>
            </p:nvGrpSpPr>
            <p:grpSpPr>
              <a:xfrm>
                <a:off x="2511381" y="3858596"/>
                <a:ext cx="2328929" cy="438643"/>
                <a:chOff x="2588653" y="3420714"/>
                <a:chExt cx="2328929" cy="438643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E994666F-DCC2-4D02-38CE-EC2609B55677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1FB4F453-5ADF-32E2-317C-7CE50D923A78}"/>
                    </a:ext>
                  </a:extLst>
                </p:cNvPr>
                <p:cNvSpPr txBox="1"/>
                <p:nvPr/>
              </p:nvSpPr>
              <p:spPr>
                <a:xfrm>
                  <a:off x="2588653" y="3461783"/>
                  <a:ext cx="2328929" cy="372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Optimización</a:t>
                  </a: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3C7F202E-EF9A-9BB8-5FB6-9A30EB4FD6ED}"/>
                  </a:ext>
                </a:extLst>
              </p:cNvPr>
              <p:cNvGrpSpPr/>
              <p:nvPr/>
            </p:nvGrpSpPr>
            <p:grpSpPr>
              <a:xfrm>
                <a:off x="5105521" y="3858596"/>
                <a:ext cx="1771797" cy="438643"/>
                <a:chOff x="5047567" y="3429000"/>
                <a:chExt cx="1771797" cy="438643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B7DDB4D9-7832-9D03-781E-C5BBD49BDAD4}"/>
                    </a:ext>
                  </a:extLst>
                </p:cNvPr>
                <p:cNvSpPr/>
                <p:nvPr/>
              </p:nvSpPr>
              <p:spPr>
                <a:xfrm>
                  <a:off x="5047567" y="3429000"/>
                  <a:ext cx="1765358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ADB86A5-4140-270E-4809-B6AD53AA5D12}"/>
                    </a:ext>
                  </a:extLst>
                </p:cNvPr>
                <p:cNvSpPr txBox="1"/>
                <p:nvPr/>
              </p:nvSpPr>
              <p:spPr>
                <a:xfrm>
                  <a:off x="5054005" y="3467458"/>
                  <a:ext cx="1765359" cy="372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Entrenamiento</a:t>
                  </a:r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F39D102-01A4-B249-77AC-1E3392A25511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0" cy="3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Logistic Regression</a:t>
                </a:r>
              </a:p>
            </p:txBody>
          </p:sp>
          <p:sp>
            <p:nvSpPr>
              <p:cNvPr id="89" name="Arrow: Right 88">
                <a:extLst>
                  <a:ext uri="{FF2B5EF4-FFF2-40B4-BE49-F238E27FC236}">
                    <a16:creationId xmlns:a16="http://schemas.microsoft.com/office/drawing/2014/main" id="{763AEF78-0102-9603-5DFF-52606994C04D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D78B4E0-90D1-0760-998A-CD9243D4F724}"/>
                </a:ext>
              </a:extLst>
            </p:cNvPr>
            <p:cNvGrpSpPr/>
            <p:nvPr/>
          </p:nvGrpSpPr>
          <p:grpSpPr>
            <a:xfrm>
              <a:off x="4129701" y="2506364"/>
              <a:ext cx="4520548" cy="830283"/>
              <a:chOff x="2414725" y="3550819"/>
              <a:chExt cx="4520548" cy="830282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7C07505-AA25-D9D0-9B60-1A633911C3AB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B8B5132-64DB-73E4-8E33-93C0F8BAD08F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108506F-FB25-7868-ED92-5E3AC66DB949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273A1CE-79E6-1CF4-2581-AAD97A5E54DD}"/>
                    </a:ext>
                  </a:extLst>
                </p:cNvPr>
                <p:cNvSpPr txBox="1"/>
                <p:nvPr/>
              </p:nvSpPr>
              <p:spPr>
                <a:xfrm>
                  <a:off x="2588652" y="3461505"/>
                  <a:ext cx="2328929" cy="372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Optimización</a:t>
                  </a:r>
                  <a:endParaRPr lang="en-US" sz="1600" dirty="0"/>
                </a:p>
              </p:txBody>
            </p:sp>
          </p:grp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739ADF7-3FA7-26C5-0BF3-8B597A8E2A82}"/>
                  </a:ext>
                </a:extLst>
              </p:cNvPr>
              <p:cNvSpPr/>
              <p:nvPr/>
            </p:nvSpPr>
            <p:spPr>
              <a:xfrm>
                <a:off x="5105521" y="3858596"/>
                <a:ext cx="1765358" cy="438642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A22F21-875D-E656-F764-625C059D60F7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0" cy="3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SVM</a:t>
                </a:r>
              </a:p>
            </p:txBody>
          </p:sp>
          <p:sp>
            <p:nvSpPr>
              <p:cNvPr id="75" name="Arrow: Right 74">
                <a:extLst>
                  <a:ext uri="{FF2B5EF4-FFF2-40B4-BE49-F238E27FC236}">
                    <a16:creationId xmlns:a16="http://schemas.microsoft.com/office/drawing/2014/main" id="{74548D77-AD81-6B82-41A1-81E0DC32A9AF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508B41B-B1E2-4BA7-E0EC-A485B565F414}"/>
                </a:ext>
              </a:extLst>
            </p:cNvPr>
            <p:cNvGrpSpPr/>
            <p:nvPr/>
          </p:nvGrpSpPr>
          <p:grpSpPr>
            <a:xfrm>
              <a:off x="4129701" y="3422428"/>
              <a:ext cx="4520548" cy="830283"/>
              <a:chOff x="2414725" y="3550819"/>
              <a:chExt cx="4520548" cy="83028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CEFA073-AE86-EE84-5826-1FECF6AE6FB8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D35A56D-34A4-ECE3-DF2C-60A7F842C818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0CBAE7FF-E45E-E322-4706-EC7182E4E969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E0F7731-AE95-AF77-0351-A23420AE53ED}"/>
                    </a:ext>
                  </a:extLst>
                </p:cNvPr>
                <p:cNvSpPr txBox="1"/>
                <p:nvPr/>
              </p:nvSpPr>
              <p:spPr>
                <a:xfrm>
                  <a:off x="2588652" y="3461505"/>
                  <a:ext cx="2328929" cy="3725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Optimización</a:t>
                  </a:r>
                </a:p>
              </p:txBody>
            </p: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D191D9A-F9D4-ACD1-1E31-63FA06CE2E0A}"/>
                  </a:ext>
                </a:extLst>
              </p:cNvPr>
              <p:cNvSpPr/>
              <p:nvPr/>
            </p:nvSpPr>
            <p:spPr>
              <a:xfrm>
                <a:off x="5105521" y="3858596"/>
                <a:ext cx="1765358" cy="438642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10EF903-99A8-4399-AC74-EB5E54F695A8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0" cy="3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XGBoost</a:t>
                </a:r>
              </a:p>
            </p:txBody>
          </p:sp>
          <p:sp>
            <p:nvSpPr>
              <p:cNvPr id="66" name="Arrow: Right 65">
                <a:extLst>
                  <a:ext uri="{FF2B5EF4-FFF2-40B4-BE49-F238E27FC236}">
                    <a16:creationId xmlns:a16="http://schemas.microsoft.com/office/drawing/2014/main" id="{CFD52F95-516B-2CF2-2C4D-E43EC4F34B42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C5C4D37-8019-DCFA-56F6-8CDE8BC6A357}"/>
                </a:ext>
              </a:extLst>
            </p:cNvPr>
            <p:cNvSpPr txBox="1"/>
            <p:nvPr/>
          </p:nvSpPr>
          <p:spPr>
            <a:xfrm>
              <a:off x="3992694" y="1237040"/>
              <a:ext cx="4840125" cy="37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Módulo de </a:t>
              </a:r>
              <a:r>
                <a:rPr lang="en-US" sz="1400" b="1" dirty="0" err="1"/>
                <a:t>generación</a:t>
              </a:r>
              <a:r>
                <a:rPr lang="en-US" sz="1400" b="1" dirty="0"/>
                <a:t> de modelos</a:t>
              </a:r>
            </a:p>
          </p:txBody>
        </p:sp>
      </p:grp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67C895D8-74D1-1DD1-6CDB-DEC1D3BC4AA7}"/>
              </a:ext>
            </a:extLst>
          </p:cNvPr>
          <p:cNvSpPr/>
          <p:nvPr/>
        </p:nvSpPr>
        <p:spPr>
          <a:xfrm rot="5400000">
            <a:off x="2619984" y="3139590"/>
            <a:ext cx="423428" cy="319462"/>
          </a:xfrm>
          <a:prstGeom prst="rightArrow">
            <a:avLst>
              <a:gd name="adj1" fmla="val 50000"/>
              <a:gd name="adj2" fmla="val 58063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309E3A2-31EF-E125-C306-4D4D6271F622}"/>
              </a:ext>
            </a:extLst>
          </p:cNvPr>
          <p:cNvGrpSpPr/>
          <p:nvPr/>
        </p:nvGrpSpPr>
        <p:grpSpPr>
          <a:xfrm>
            <a:off x="7668041" y="2329867"/>
            <a:ext cx="2311708" cy="2650604"/>
            <a:chOff x="7098325" y="4057726"/>
            <a:chExt cx="2311708" cy="2650604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4A36A25-8F47-9D12-DDB9-C3BF92BB4C91}"/>
                </a:ext>
              </a:extLst>
            </p:cNvPr>
            <p:cNvSpPr/>
            <p:nvPr/>
          </p:nvSpPr>
          <p:spPr>
            <a:xfrm>
              <a:off x="7150317" y="4422810"/>
              <a:ext cx="2113245" cy="2285520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26FF8CA3-F427-E3C4-06BC-A05E293738B0}"/>
                </a:ext>
              </a:extLst>
            </p:cNvPr>
            <p:cNvGrpSpPr/>
            <p:nvPr/>
          </p:nvGrpSpPr>
          <p:grpSpPr>
            <a:xfrm>
              <a:off x="7642507" y="4978792"/>
              <a:ext cx="1404850" cy="319212"/>
              <a:chOff x="9991952" y="7481384"/>
              <a:chExt cx="1807765" cy="319212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DD3502BB-10C3-3378-A508-2F5CE57DE075}"/>
                  </a:ext>
                </a:extLst>
              </p:cNvPr>
              <p:cNvSpPr/>
              <p:nvPr/>
            </p:nvSpPr>
            <p:spPr>
              <a:xfrm>
                <a:off x="10004673" y="7487461"/>
                <a:ext cx="1670172" cy="313135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9D2D1622-1093-81A8-8561-768622303FEC}"/>
                  </a:ext>
                </a:extLst>
              </p:cNvPr>
              <p:cNvSpPr txBox="1"/>
              <p:nvPr/>
            </p:nvSpPr>
            <p:spPr>
              <a:xfrm>
                <a:off x="9991952" y="7481384"/>
                <a:ext cx="18077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Predicciones</a:t>
                </a: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31B8D89-B3C9-B580-C157-C72C976A3358}"/>
                </a:ext>
              </a:extLst>
            </p:cNvPr>
            <p:cNvSpPr txBox="1"/>
            <p:nvPr/>
          </p:nvSpPr>
          <p:spPr>
            <a:xfrm>
              <a:off x="7150316" y="4467637"/>
              <a:ext cx="21132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Servicio web</a:t>
              </a:r>
            </a:p>
          </p:txBody>
        </p:sp>
        <p:pic>
          <p:nvPicPr>
            <p:cNvPr id="102" name="Graphic 101" descr="Cloud with solid fill">
              <a:extLst>
                <a:ext uri="{FF2B5EF4-FFF2-40B4-BE49-F238E27FC236}">
                  <a16:creationId xmlns:a16="http://schemas.microsoft.com/office/drawing/2014/main" id="{9E9D45FA-2ADD-F3C5-602D-322D3F1BB5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23241" y="4057726"/>
              <a:ext cx="686792" cy="686792"/>
            </a:xfrm>
            <a:prstGeom prst="rect">
              <a:avLst/>
            </a:prstGeom>
          </p:spPr>
        </p:pic>
        <p:pic>
          <p:nvPicPr>
            <p:cNvPr id="103" name="Graphic 102" descr="Single gear with solid fill">
              <a:extLst>
                <a:ext uri="{FF2B5EF4-FFF2-40B4-BE49-F238E27FC236}">
                  <a16:creationId xmlns:a16="http://schemas.microsoft.com/office/drawing/2014/main" id="{54268739-5FF3-47EA-41A5-31B75C9B21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98325" y="4753708"/>
              <a:ext cx="775653" cy="775653"/>
            </a:xfrm>
            <a:prstGeom prst="rect">
              <a:avLst/>
            </a:prstGeom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84D07FC-F6EE-DE69-EB52-54884744912B}"/>
                </a:ext>
              </a:extLst>
            </p:cNvPr>
            <p:cNvSpPr/>
            <p:nvPr/>
          </p:nvSpPr>
          <p:spPr>
            <a:xfrm>
              <a:off x="7785038" y="5586332"/>
              <a:ext cx="914378" cy="313135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06C17B1-28A2-452A-C399-7B30E9FD8726}"/>
                </a:ext>
              </a:extLst>
            </p:cNvPr>
            <p:cNvSpPr txBox="1"/>
            <p:nvPr/>
          </p:nvSpPr>
          <p:spPr>
            <a:xfrm>
              <a:off x="7783772" y="5602701"/>
              <a:ext cx="9143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Métricas</a:t>
              </a:r>
              <a:endParaRPr lang="en-US" sz="1100" dirty="0"/>
            </a:p>
          </p:txBody>
        </p:sp>
        <p:pic>
          <p:nvPicPr>
            <p:cNvPr id="106" name="Graphic 105" descr="Mathematics with solid fill">
              <a:extLst>
                <a:ext uri="{FF2B5EF4-FFF2-40B4-BE49-F238E27FC236}">
                  <a16:creationId xmlns:a16="http://schemas.microsoft.com/office/drawing/2014/main" id="{E699B242-CF9C-7D68-4FDA-FEC3415259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23379" y="5451064"/>
              <a:ext cx="583670" cy="583670"/>
            </a:xfrm>
            <a:prstGeom prst="rect">
              <a:avLst/>
            </a:prstGeom>
          </p:spPr>
        </p:pic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92C03C2-D3F1-5774-611D-C6720CBF71B6}"/>
                </a:ext>
              </a:extLst>
            </p:cNvPr>
            <p:cNvSpPr/>
            <p:nvPr/>
          </p:nvSpPr>
          <p:spPr>
            <a:xfrm>
              <a:off x="7769838" y="6132014"/>
              <a:ext cx="914378" cy="313135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CB8A84-7C62-82BF-97E6-1AF0B7961820}"/>
                </a:ext>
              </a:extLst>
            </p:cNvPr>
            <p:cNvSpPr txBox="1"/>
            <p:nvPr/>
          </p:nvSpPr>
          <p:spPr>
            <a:xfrm>
              <a:off x="7768572" y="6148383"/>
              <a:ext cx="9004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Gráficos</a:t>
              </a:r>
              <a:endParaRPr lang="en-US" sz="1100" dirty="0"/>
            </a:p>
          </p:txBody>
        </p:sp>
        <p:pic>
          <p:nvPicPr>
            <p:cNvPr id="123" name="Graphic 122" descr="Bar graph with upward trend with solid fill">
              <a:extLst>
                <a:ext uri="{FF2B5EF4-FFF2-40B4-BE49-F238E27FC236}">
                  <a16:creationId xmlns:a16="http://schemas.microsoft.com/office/drawing/2014/main" id="{FD83E419-F831-FC34-7A6C-231F4CB23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57299" y="5909988"/>
              <a:ext cx="774817" cy="774817"/>
            </a:xfrm>
            <a:prstGeom prst="rect">
              <a:avLst/>
            </a:prstGeom>
          </p:spPr>
        </p:pic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2A04029B-29E3-425C-A009-42F3BDF5102B}"/>
              </a:ext>
            </a:extLst>
          </p:cNvPr>
          <p:cNvSpPr txBox="1"/>
          <p:nvPr/>
        </p:nvSpPr>
        <p:spPr>
          <a:xfrm>
            <a:off x="3824159" y="4847324"/>
            <a:ext cx="145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Entrenamiento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7F1EEC6-4533-30F1-3CE8-67C0A5916623}"/>
              </a:ext>
            </a:extLst>
          </p:cNvPr>
          <p:cNvSpPr txBox="1"/>
          <p:nvPr/>
        </p:nvSpPr>
        <p:spPr>
          <a:xfrm>
            <a:off x="3835307" y="5607590"/>
            <a:ext cx="145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Entrenamiento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97BB48-8759-FEC8-EE68-6B43AB5DA813}"/>
              </a:ext>
            </a:extLst>
          </p:cNvPr>
          <p:cNvGrpSpPr/>
          <p:nvPr/>
        </p:nvGrpSpPr>
        <p:grpSpPr>
          <a:xfrm>
            <a:off x="5878714" y="1193640"/>
            <a:ext cx="914400" cy="914400"/>
            <a:chOff x="6353712" y="5960432"/>
            <a:chExt cx="914400" cy="914400"/>
          </a:xfrm>
        </p:grpSpPr>
        <p:pic>
          <p:nvPicPr>
            <p:cNvPr id="18" name="Graphic 17" descr="Folder with solid fill">
              <a:extLst>
                <a:ext uri="{FF2B5EF4-FFF2-40B4-BE49-F238E27FC236}">
                  <a16:creationId xmlns:a16="http://schemas.microsoft.com/office/drawing/2014/main" id="{2F1842B6-3096-4B41-EA5D-8231C9BCE3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53712" y="5960432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0F9D59-D6D8-F919-DAEC-FDF74BBEBE5B}"/>
                </a:ext>
              </a:extLst>
            </p:cNvPr>
            <p:cNvSpPr txBox="1"/>
            <p:nvPr/>
          </p:nvSpPr>
          <p:spPr>
            <a:xfrm>
              <a:off x="6376770" y="6310249"/>
              <a:ext cx="887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Métricas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A70A7A-F09C-4092-1B98-2459F7F11845}"/>
              </a:ext>
            </a:extLst>
          </p:cNvPr>
          <p:cNvGrpSpPr/>
          <p:nvPr/>
        </p:nvGrpSpPr>
        <p:grpSpPr>
          <a:xfrm>
            <a:off x="6785668" y="1190083"/>
            <a:ext cx="914400" cy="914400"/>
            <a:chOff x="7226446" y="5950644"/>
            <a:chExt cx="914400" cy="914400"/>
          </a:xfrm>
        </p:grpSpPr>
        <p:pic>
          <p:nvPicPr>
            <p:cNvPr id="20" name="Graphic 19" descr="Folder with solid fill">
              <a:extLst>
                <a:ext uri="{FF2B5EF4-FFF2-40B4-BE49-F238E27FC236}">
                  <a16:creationId xmlns:a16="http://schemas.microsoft.com/office/drawing/2014/main" id="{4A002A91-CC9F-63C1-7E19-F4B5010191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6446" y="5950644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052571-6360-B4A7-96CC-F539CE9F4EFD}"/>
                </a:ext>
              </a:extLst>
            </p:cNvPr>
            <p:cNvSpPr txBox="1"/>
            <p:nvPr/>
          </p:nvSpPr>
          <p:spPr>
            <a:xfrm>
              <a:off x="7249504" y="6300461"/>
              <a:ext cx="887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Gráficos</a:t>
              </a:r>
            </a:p>
          </p:txBody>
        </p:sp>
      </p:grp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AB96433-0D0E-06F6-A264-75D356EEC7D0}"/>
              </a:ext>
            </a:extLst>
          </p:cNvPr>
          <p:cNvSpPr/>
          <p:nvPr/>
        </p:nvSpPr>
        <p:spPr>
          <a:xfrm rot="5400000">
            <a:off x="8073581" y="2310877"/>
            <a:ext cx="420766" cy="319462"/>
          </a:xfrm>
          <a:prstGeom prst="rightArrow">
            <a:avLst>
              <a:gd name="adj1" fmla="val 50000"/>
              <a:gd name="adj2" fmla="val 59910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3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D84DE-9998-C868-D3BA-A9FA703D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C35B80A-C4BA-83C5-5AFC-DD852812B100}"/>
              </a:ext>
            </a:extLst>
          </p:cNvPr>
          <p:cNvSpPr/>
          <p:nvPr/>
        </p:nvSpPr>
        <p:spPr>
          <a:xfrm rot="10800000">
            <a:off x="817808" y="624624"/>
            <a:ext cx="9723550" cy="5664494"/>
          </a:xfrm>
          <a:prstGeom prst="round2SameRect">
            <a:avLst>
              <a:gd name="adj1" fmla="val 8411"/>
              <a:gd name="adj2" fmla="val 0"/>
            </a:avLst>
          </a:prstGeom>
          <a:solidFill>
            <a:srgbClr val="ECFFF2"/>
          </a:solidFill>
          <a:ln>
            <a:solidFill>
              <a:srgbClr val="ECFF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BEA8CA3-EAAE-3C45-2C32-98493E011DD0}"/>
              </a:ext>
            </a:extLst>
          </p:cNvPr>
          <p:cNvSpPr/>
          <p:nvPr/>
        </p:nvSpPr>
        <p:spPr>
          <a:xfrm>
            <a:off x="817809" y="134585"/>
            <a:ext cx="9723550" cy="57375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Sistema de predicción de quiebra de empresas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49E144E-0EE3-542B-A1F9-57ECED7D6F95}"/>
              </a:ext>
            </a:extLst>
          </p:cNvPr>
          <p:cNvGrpSpPr/>
          <p:nvPr/>
        </p:nvGrpSpPr>
        <p:grpSpPr>
          <a:xfrm>
            <a:off x="1486865" y="894976"/>
            <a:ext cx="2691751" cy="2192629"/>
            <a:chOff x="1126835" y="1236371"/>
            <a:chExt cx="2691751" cy="21926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1C4FCE-34B4-13FC-E7AC-E19B77EDDFFF}"/>
                </a:ext>
              </a:extLst>
            </p:cNvPr>
            <p:cNvSpPr/>
            <p:nvPr/>
          </p:nvSpPr>
          <p:spPr>
            <a:xfrm>
              <a:off x="1128923" y="1236371"/>
              <a:ext cx="2689663" cy="2192629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54EA87-5B7D-539D-FF95-189FFD4DC5F9}"/>
                </a:ext>
              </a:extLst>
            </p:cNvPr>
            <p:cNvSpPr txBox="1"/>
            <p:nvPr/>
          </p:nvSpPr>
          <p:spPr>
            <a:xfrm>
              <a:off x="1126835" y="1279609"/>
              <a:ext cx="26896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Módulo de preprocesamiento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F65C8CF-3BA0-8723-F028-1DED88C796F4}"/>
                </a:ext>
              </a:extLst>
            </p:cNvPr>
            <p:cNvGrpSpPr/>
            <p:nvPr/>
          </p:nvGrpSpPr>
          <p:grpSpPr>
            <a:xfrm>
              <a:off x="1307206" y="1609098"/>
              <a:ext cx="2328929" cy="438643"/>
              <a:chOff x="3078051" y="2021983"/>
              <a:chExt cx="2328929" cy="43864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52CA7C-F78D-8C55-18B4-2C66FA4749D9}"/>
                  </a:ext>
                </a:extLst>
              </p:cNvPr>
              <p:cNvSpPr/>
              <p:nvPr/>
            </p:nvSpPr>
            <p:spPr>
              <a:xfrm>
                <a:off x="3078051" y="2021983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FEAE9B-5849-0193-046D-A6F3FFA4AF3F}"/>
                  </a:ext>
                </a:extLst>
              </p:cNvPr>
              <p:cNvSpPr txBox="1"/>
              <p:nvPr/>
            </p:nvSpPr>
            <p:spPr>
              <a:xfrm>
                <a:off x="3078051" y="2085413"/>
                <a:ext cx="23289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Descarga de dataset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B0E04B5-23F7-6DD4-83D3-A98EDD6B3D27}"/>
                </a:ext>
              </a:extLst>
            </p:cNvPr>
            <p:cNvGrpSpPr/>
            <p:nvPr/>
          </p:nvGrpSpPr>
          <p:grpSpPr>
            <a:xfrm>
              <a:off x="1307204" y="2226558"/>
              <a:ext cx="2328930" cy="438643"/>
              <a:chOff x="4099774" y="2684847"/>
              <a:chExt cx="2328930" cy="43864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C96F3B7-D655-6B82-88B3-C035F1DA2E7A}"/>
                  </a:ext>
                </a:extLst>
              </p:cNvPr>
              <p:cNvSpPr/>
              <p:nvPr/>
            </p:nvSpPr>
            <p:spPr>
              <a:xfrm>
                <a:off x="4099775" y="2684847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EE1AD-BB7D-DAAD-1A26-F5BC6E51287C}"/>
                  </a:ext>
                </a:extLst>
              </p:cNvPr>
              <p:cNvSpPr txBox="1"/>
              <p:nvPr/>
            </p:nvSpPr>
            <p:spPr>
              <a:xfrm>
                <a:off x="4099774" y="2750279"/>
                <a:ext cx="23289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División en train y test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D024DC8-75B0-BB18-D5DE-590DF3556584}"/>
                </a:ext>
              </a:extLst>
            </p:cNvPr>
            <p:cNvGrpSpPr/>
            <p:nvPr/>
          </p:nvGrpSpPr>
          <p:grpSpPr>
            <a:xfrm>
              <a:off x="1307204" y="2837800"/>
              <a:ext cx="2328930" cy="438643"/>
              <a:chOff x="4099774" y="2684847"/>
              <a:chExt cx="2328930" cy="43864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37CA3A2-C2BC-C927-F5F3-50262C59DA16}"/>
                  </a:ext>
                </a:extLst>
              </p:cNvPr>
              <p:cNvSpPr/>
              <p:nvPr/>
            </p:nvSpPr>
            <p:spPr>
              <a:xfrm>
                <a:off x="4099775" y="2684847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1DF8795-00C9-CA13-9A44-9AF00ABD15FF}"/>
                  </a:ext>
                </a:extLst>
              </p:cNvPr>
              <p:cNvSpPr txBox="1"/>
              <p:nvPr/>
            </p:nvSpPr>
            <p:spPr>
              <a:xfrm>
                <a:off x="4099774" y="2750279"/>
                <a:ext cx="23289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Preprocesamiento</a:t>
                </a:r>
              </a:p>
            </p:txBody>
          </p:sp>
        </p:grpSp>
        <p:sp>
          <p:nvSpPr>
            <p:cNvPr id="83" name="Arrow: Right 82">
              <a:extLst>
                <a:ext uri="{FF2B5EF4-FFF2-40B4-BE49-F238E27FC236}">
                  <a16:creationId xmlns:a16="http://schemas.microsoft.com/office/drawing/2014/main" id="{E292EB82-9233-931C-C199-FFE29A3517B0}"/>
                </a:ext>
              </a:extLst>
            </p:cNvPr>
            <p:cNvSpPr/>
            <p:nvPr/>
          </p:nvSpPr>
          <p:spPr>
            <a:xfrm rot="5400000">
              <a:off x="2266259" y="2009050"/>
              <a:ext cx="410818" cy="319462"/>
            </a:xfrm>
            <a:prstGeom prst="rightArrow">
              <a:avLst/>
            </a:prstGeom>
            <a:solidFill>
              <a:srgbClr val="CFE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Arrow: Right 83">
              <a:extLst>
                <a:ext uri="{FF2B5EF4-FFF2-40B4-BE49-F238E27FC236}">
                  <a16:creationId xmlns:a16="http://schemas.microsoft.com/office/drawing/2014/main" id="{0E81EE1B-C694-A951-4C98-38EDD1971292}"/>
                </a:ext>
              </a:extLst>
            </p:cNvPr>
            <p:cNvSpPr/>
            <p:nvPr/>
          </p:nvSpPr>
          <p:spPr>
            <a:xfrm rot="5400000">
              <a:off x="2266259" y="2591742"/>
              <a:ext cx="410818" cy="319462"/>
            </a:xfrm>
            <a:prstGeom prst="rightArrow">
              <a:avLst/>
            </a:prstGeom>
            <a:solidFill>
              <a:srgbClr val="CFE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4" name="Arrow: Bent 203">
            <a:extLst>
              <a:ext uri="{FF2B5EF4-FFF2-40B4-BE49-F238E27FC236}">
                <a16:creationId xmlns:a16="http://schemas.microsoft.com/office/drawing/2014/main" id="{5C5ACFB7-7709-E566-7AB1-8CB8500106FE}"/>
              </a:ext>
            </a:extLst>
          </p:cNvPr>
          <p:cNvSpPr/>
          <p:nvPr/>
        </p:nvSpPr>
        <p:spPr>
          <a:xfrm rot="5400000" flipH="1">
            <a:off x="5776398" y="3995679"/>
            <a:ext cx="679944" cy="1289639"/>
          </a:xfrm>
          <a:prstGeom prst="bentArrow">
            <a:avLst>
              <a:gd name="adj1" fmla="val 25000"/>
              <a:gd name="adj2" fmla="val 25000"/>
              <a:gd name="adj3" fmla="val 34239"/>
              <a:gd name="adj4" fmla="val 43750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6F4945B-5410-349C-6994-ABA043FDDA47}"/>
              </a:ext>
            </a:extLst>
          </p:cNvPr>
          <p:cNvGrpSpPr/>
          <p:nvPr/>
        </p:nvGrpSpPr>
        <p:grpSpPr>
          <a:xfrm>
            <a:off x="9973802" y="2450031"/>
            <a:ext cx="1304202" cy="1639079"/>
            <a:chOff x="10349523" y="2456903"/>
            <a:chExt cx="1304202" cy="1639079"/>
          </a:xfrm>
        </p:grpSpPr>
        <p:sp>
          <p:nvSpPr>
            <p:cNvPr id="216" name="Flowchart: Alternate Process 215">
              <a:extLst>
                <a:ext uri="{FF2B5EF4-FFF2-40B4-BE49-F238E27FC236}">
                  <a16:creationId xmlns:a16="http://schemas.microsoft.com/office/drawing/2014/main" id="{BC7AB31A-6E61-24C4-1676-C43D38F30082}"/>
                </a:ext>
              </a:extLst>
            </p:cNvPr>
            <p:cNvSpPr/>
            <p:nvPr/>
          </p:nvSpPr>
          <p:spPr>
            <a:xfrm>
              <a:off x="10349523" y="2456904"/>
              <a:ext cx="1304200" cy="1639078"/>
            </a:xfrm>
            <a:prstGeom prst="flowChartAlternateProcess">
              <a:avLst/>
            </a:prstGeom>
            <a:solidFill>
              <a:srgbClr val="CFE6D6"/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: Top Corners Rounded 216">
              <a:extLst>
                <a:ext uri="{FF2B5EF4-FFF2-40B4-BE49-F238E27FC236}">
                  <a16:creationId xmlns:a16="http://schemas.microsoft.com/office/drawing/2014/main" id="{3C8191ED-740A-B3E3-64EA-C84A098FD36C}"/>
                </a:ext>
              </a:extLst>
            </p:cNvPr>
            <p:cNvSpPr/>
            <p:nvPr/>
          </p:nvSpPr>
          <p:spPr>
            <a:xfrm>
              <a:off x="10349525" y="245690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Consultas de Usuario</a:t>
              </a:r>
            </a:p>
          </p:txBody>
        </p:sp>
        <p:pic>
          <p:nvPicPr>
            <p:cNvPr id="219" name="Graphic 218" descr="User with solid fill">
              <a:extLst>
                <a:ext uri="{FF2B5EF4-FFF2-40B4-BE49-F238E27FC236}">
                  <a16:creationId xmlns:a16="http://schemas.microsoft.com/office/drawing/2014/main" id="{002F2BC8-C890-EF55-0365-8392329DB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55294" y="2976093"/>
              <a:ext cx="914400" cy="914400"/>
            </a:xfrm>
            <a:prstGeom prst="rect">
              <a:avLst/>
            </a:prstGeom>
          </p:spPr>
        </p:pic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A391900-F5DB-27CD-F89E-D130E09384F9}"/>
              </a:ext>
            </a:extLst>
          </p:cNvPr>
          <p:cNvGrpSpPr/>
          <p:nvPr/>
        </p:nvGrpSpPr>
        <p:grpSpPr>
          <a:xfrm>
            <a:off x="88528" y="2355142"/>
            <a:ext cx="1304202" cy="1639079"/>
            <a:chOff x="228780" y="4263453"/>
            <a:chExt cx="1304202" cy="1639079"/>
          </a:xfrm>
        </p:grpSpPr>
        <p:sp>
          <p:nvSpPr>
            <p:cNvPr id="224" name="Flowchart: Alternate Process 223">
              <a:extLst>
                <a:ext uri="{FF2B5EF4-FFF2-40B4-BE49-F238E27FC236}">
                  <a16:creationId xmlns:a16="http://schemas.microsoft.com/office/drawing/2014/main" id="{9D71570A-5159-480C-07D5-85170413A38C}"/>
                </a:ext>
              </a:extLst>
            </p:cNvPr>
            <p:cNvSpPr/>
            <p:nvPr/>
          </p:nvSpPr>
          <p:spPr>
            <a:xfrm>
              <a:off x="228780" y="4263454"/>
              <a:ext cx="1304200" cy="1639078"/>
            </a:xfrm>
            <a:prstGeom prst="flowChartAlternateProcess">
              <a:avLst/>
            </a:prstGeom>
            <a:solidFill>
              <a:srgbClr val="CFE6D6"/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: Top Corners Rounded 224">
              <a:extLst>
                <a:ext uri="{FF2B5EF4-FFF2-40B4-BE49-F238E27FC236}">
                  <a16:creationId xmlns:a16="http://schemas.microsoft.com/office/drawing/2014/main" id="{E6571B77-1F7F-2F3B-1EDF-C2B73B1D47B6}"/>
                </a:ext>
              </a:extLst>
            </p:cNvPr>
            <p:cNvSpPr/>
            <p:nvPr/>
          </p:nvSpPr>
          <p:spPr>
            <a:xfrm>
              <a:off x="228782" y="426345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Origen de datos</a:t>
              </a:r>
            </a:p>
          </p:txBody>
        </p:sp>
        <p:pic>
          <p:nvPicPr>
            <p:cNvPr id="227" name="Graphic 226" descr="Database with solid fill">
              <a:extLst>
                <a:ext uri="{FF2B5EF4-FFF2-40B4-BE49-F238E27FC236}">
                  <a16:creationId xmlns:a16="http://schemas.microsoft.com/office/drawing/2014/main" id="{599928A5-FEB3-A098-428F-1BE18745AF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80" y="4846818"/>
              <a:ext cx="914400" cy="9144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8F05DE8-C2CF-78B6-445A-FE29E4580058}"/>
              </a:ext>
            </a:extLst>
          </p:cNvPr>
          <p:cNvGrpSpPr/>
          <p:nvPr/>
        </p:nvGrpSpPr>
        <p:grpSpPr>
          <a:xfrm>
            <a:off x="4887506" y="894976"/>
            <a:ext cx="2982222" cy="1365541"/>
            <a:chOff x="6845834" y="5265109"/>
            <a:chExt cx="2982222" cy="136554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5A10ADB-ABDA-0FD4-A678-1A9A89DBC84C}"/>
                </a:ext>
              </a:extLst>
            </p:cNvPr>
            <p:cNvGrpSpPr/>
            <p:nvPr/>
          </p:nvGrpSpPr>
          <p:grpSpPr>
            <a:xfrm>
              <a:off x="6845834" y="5265109"/>
              <a:ext cx="2982222" cy="1365541"/>
              <a:chOff x="3599640" y="5048138"/>
              <a:chExt cx="3140177" cy="136554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FF2AD4-E68E-61F8-48CB-31CB3B00E85D}"/>
                  </a:ext>
                </a:extLst>
              </p:cNvPr>
              <p:cNvSpPr/>
              <p:nvPr/>
            </p:nvSpPr>
            <p:spPr>
              <a:xfrm>
                <a:off x="3599641" y="5048138"/>
                <a:ext cx="3140176" cy="136554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36D340-DDF9-8735-FFD4-297407B8253E}"/>
                  </a:ext>
                </a:extLst>
              </p:cNvPr>
              <p:cNvSpPr txBox="1"/>
              <p:nvPr/>
            </p:nvSpPr>
            <p:spPr>
              <a:xfrm>
                <a:off x="3599640" y="5059144"/>
                <a:ext cx="31401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Tracking server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C2F3BB-2C94-87DA-C38B-3D43682DFFA8}"/>
                </a:ext>
              </a:extLst>
            </p:cNvPr>
            <p:cNvGrpSpPr/>
            <p:nvPr/>
          </p:nvGrpSpPr>
          <p:grpSpPr>
            <a:xfrm>
              <a:off x="8646448" y="5677498"/>
              <a:ext cx="1109159" cy="843061"/>
              <a:chOff x="10578477" y="5320228"/>
              <a:chExt cx="1109159" cy="843061"/>
            </a:xfrm>
          </p:grpSpPr>
          <p:pic>
            <p:nvPicPr>
              <p:cNvPr id="25" name="Graphic 24" descr="Document with solid fill">
                <a:extLst>
                  <a:ext uri="{FF2B5EF4-FFF2-40B4-BE49-F238E27FC236}">
                    <a16:creationId xmlns:a16="http://schemas.microsoft.com/office/drawing/2014/main" id="{B49FBB13-40A1-E068-63DF-AE1DBD6C41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807017" y="5320228"/>
                <a:ext cx="679265" cy="67926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DD1224-200A-8BB3-41D8-22140EF0BD2B}"/>
                  </a:ext>
                </a:extLst>
              </p:cNvPr>
              <p:cNvSpPr txBox="1"/>
              <p:nvPr/>
            </p:nvSpPr>
            <p:spPr>
              <a:xfrm>
                <a:off x="10578477" y="5886290"/>
                <a:ext cx="11091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Mejor modelo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2D28DAF-0533-28BD-FB75-85BB5ACAD4D7}"/>
                </a:ext>
              </a:extLst>
            </p:cNvPr>
            <p:cNvGrpSpPr/>
            <p:nvPr/>
          </p:nvGrpSpPr>
          <p:grpSpPr>
            <a:xfrm>
              <a:off x="6950091" y="5551117"/>
              <a:ext cx="914400" cy="914400"/>
              <a:chOff x="4456770" y="6202747"/>
              <a:chExt cx="914400" cy="914400"/>
            </a:xfrm>
          </p:grpSpPr>
          <p:pic>
            <p:nvPicPr>
              <p:cNvPr id="31" name="Graphic 30" descr="Folder with solid fill">
                <a:extLst>
                  <a:ext uri="{FF2B5EF4-FFF2-40B4-BE49-F238E27FC236}">
                    <a16:creationId xmlns:a16="http://schemas.microsoft.com/office/drawing/2014/main" id="{9220490B-EDEC-44AB-EE6F-EA3378529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56770" y="6202747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63F7A-F6E4-A990-C0B1-3F945FA69B27}"/>
                  </a:ext>
                </a:extLst>
              </p:cNvPr>
              <p:cNvSpPr txBox="1"/>
              <p:nvPr/>
            </p:nvSpPr>
            <p:spPr>
              <a:xfrm>
                <a:off x="4479828" y="6552564"/>
                <a:ext cx="8875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Modelos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8382C83-12C9-4AC4-43D2-BB0179C0882C}"/>
                </a:ext>
              </a:extLst>
            </p:cNvPr>
            <p:cNvGrpSpPr/>
            <p:nvPr/>
          </p:nvGrpSpPr>
          <p:grpSpPr>
            <a:xfrm>
              <a:off x="7864492" y="5564465"/>
              <a:ext cx="914400" cy="914400"/>
              <a:chOff x="5475628" y="6192608"/>
              <a:chExt cx="914400" cy="914400"/>
            </a:xfrm>
          </p:grpSpPr>
          <p:pic>
            <p:nvPicPr>
              <p:cNvPr id="35" name="Graphic 34" descr="Folder with solid fill">
                <a:extLst>
                  <a:ext uri="{FF2B5EF4-FFF2-40B4-BE49-F238E27FC236}">
                    <a16:creationId xmlns:a16="http://schemas.microsoft.com/office/drawing/2014/main" id="{9899367F-B2FC-E87B-B206-FD89C30D7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475628" y="61926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017EAC8-084B-B642-C41C-157B1957BAB0}"/>
                  </a:ext>
                </a:extLst>
              </p:cNvPr>
              <p:cNvSpPr txBox="1"/>
              <p:nvPr/>
            </p:nvSpPr>
            <p:spPr>
              <a:xfrm>
                <a:off x="5529695" y="6476606"/>
                <a:ext cx="8062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/>
                  <a:t>Métricas y</a:t>
                </a:r>
              </a:p>
              <a:p>
                <a:pPr algn="ctr"/>
                <a:r>
                  <a:rPr lang="en-US" sz="1000" b="1" dirty="0"/>
                  <a:t>gráficos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4102265-6C43-99BF-2868-87F233074D1D}"/>
              </a:ext>
            </a:extLst>
          </p:cNvPr>
          <p:cNvGrpSpPr/>
          <p:nvPr/>
        </p:nvGrpSpPr>
        <p:grpSpPr>
          <a:xfrm>
            <a:off x="5482833" y="3040618"/>
            <a:ext cx="2203601" cy="1255933"/>
            <a:chOff x="6747644" y="5317202"/>
            <a:chExt cx="2203601" cy="125593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AB4D88D-2A8E-86D2-C786-EB7F5483631A}"/>
                </a:ext>
              </a:extLst>
            </p:cNvPr>
            <p:cNvSpPr/>
            <p:nvPr/>
          </p:nvSpPr>
          <p:spPr>
            <a:xfrm>
              <a:off x="6818612" y="5317202"/>
              <a:ext cx="2043272" cy="1255933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AA54CE-6F91-48AA-57A1-948581CC57E6}"/>
                </a:ext>
              </a:extLst>
            </p:cNvPr>
            <p:cNvSpPr txBox="1"/>
            <p:nvPr/>
          </p:nvSpPr>
          <p:spPr>
            <a:xfrm>
              <a:off x="6816003" y="5318913"/>
              <a:ext cx="2043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Mejor modelo</a:t>
              </a:r>
            </a:p>
          </p:txBody>
        </p:sp>
        <p:pic>
          <p:nvPicPr>
            <p:cNvPr id="49" name="Graphic 48" descr="Gears with solid fill">
              <a:extLst>
                <a:ext uri="{FF2B5EF4-FFF2-40B4-BE49-F238E27FC236}">
                  <a16:creationId xmlns:a16="http://schemas.microsoft.com/office/drawing/2014/main" id="{2A085711-AF9D-50FF-5CAC-7EB6AA4D3F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14468" y="5546155"/>
              <a:ext cx="801112" cy="801112"/>
            </a:xfrm>
            <a:prstGeom prst="rect">
              <a:avLst/>
            </a:prstGeom>
          </p:spPr>
        </p:pic>
        <p:pic>
          <p:nvPicPr>
            <p:cNvPr id="50" name="Graphic 49" descr="Single gear with solid fill">
              <a:extLst>
                <a:ext uri="{FF2B5EF4-FFF2-40B4-BE49-F238E27FC236}">
                  <a16:creationId xmlns:a16="http://schemas.microsoft.com/office/drawing/2014/main" id="{CAD1B6DA-6948-F6E3-0EFC-FCD14434C6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72103" y="5538696"/>
              <a:ext cx="775653" cy="77565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B72ED84-97E1-0BC2-2AA0-E56890B05F12}"/>
                </a:ext>
              </a:extLst>
            </p:cNvPr>
            <p:cNvSpPr txBox="1"/>
            <p:nvPr/>
          </p:nvSpPr>
          <p:spPr>
            <a:xfrm>
              <a:off x="6747644" y="6244021"/>
              <a:ext cx="1271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Comparación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9C43452-9DD6-74AA-5C1C-B3ABEFCBB1BC}"/>
                </a:ext>
              </a:extLst>
            </p:cNvPr>
            <p:cNvSpPr txBox="1"/>
            <p:nvPr/>
          </p:nvSpPr>
          <p:spPr>
            <a:xfrm>
              <a:off x="7842086" y="6244021"/>
              <a:ext cx="11091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Selección</a:t>
              </a:r>
            </a:p>
          </p:txBody>
        </p:sp>
      </p:grp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D26CF3C-9A6E-3281-63C7-4E40343B6BF1}"/>
              </a:ext>
            </a:extLst>
          </p:cNvPr>
          <p:cNvSpPr/>
          <p:nvPr/>
        </p:nvSpPr>
        <p:spPr>
          <a:xfrm rot="16200000">
            <a:off x="6188613" y="2501402"/>
            <a:ext cx="758971" cy="319462"/>
          </a:xfrm>
          <a:prstGeom prst="rightArrow">
            <a:avLst>
              <a:gd name="adj1" fmla="val 50000"/>
              <a:gd name="adj2" fmla="val 62095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Arrow: Bent 54">
            <a:extLst>
              <a:ext uri="{FF2B5EF4-FFF2-40B4-BE49-F238E27FC236}">
                <a16:creationId xmlns:a16="http://schemas.microsoft.com/office/drawing/2014/main" id="{7D93DE23-96E4-AD51-35A4-F05C712D5C60}"/>
              </a:ext>
            </a:extLst>
          </p:cNvPr>
          <p:cNvSpPr/>
          <p:nvPr/>
        </p:nvSpPr>
        <p:spPr>
          <a:xfrm>
            <a:off x="4327001" y="1479645"/>
            <a:ext cx="541802" cy="2072040"/>
          </a:xfrm>
          <a:prstGeom prst="bentArrow">
            <a:avLst/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44BC70E-DC94-5991-64DF-EFD57DC8B50C}"/>
              </a:ext>
            </a:extLst>
          </p:cNvPr>
          <p:cNvGrpSpPr/>
          <p:nvPr/>
        </p:nvGrpSpPr>
        <p:grpSpPr>
          <a:xfrm>
            <a:off x="1486865" y="3511032"/>
            <a:ext cx="3988163" cy="2627338"/>
            <a:chOff x="3981904" y="1237040"/>
            <a:chExt cx="4850915" cy="318041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1CCABE6-1F73-F376-F792-B431E4D59997}"/>
                </a:ext>
              </a:extLst>
            </p:cNvPr>
            <p:cNvSpPr/>
            <p:nvPr/>
          </p:nvSpPr>
          <p:spPr>
            <a:xfrm>
              <a:off x="3981904" y="1244891"/>
              <a:ext cx="4838037" cy="317256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A499732-7AE9-90E3-9B2E-6908FB29C275}"/>
                </a:ext>
              </a:extLst>
            </p:cNvPr>
            <p:cNvGrpSpPr/>
            <p:nvPr/>
          </p:nvGrpSpPr>
          <p:grpSpPr>
            <a:xfrm>
              <a:off x="4129701" y="1587387"/>
              <a:ext cx="4520548" cy="830283"/>
              <a:chOff x="2414725" y="3550819"/>
              <a:chExt cx="4520548" cy="830282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1718088-7668-9EF1-2392-0227AEE59609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52A90487-1403-3957-6487-75EDE84A91C6}"/>
                  </a:ext>
                </a:extLst>
              </p:cNvPr>
              <p:cNvGrpSpPr/>
              <p:nvPr/>
            </p:nvGrpSpPr>
            <p:grpSpPr>
              <a:xfrm>
                <a:off x="2511381" y="3858596"/>
                <a:ext cx="2328929" cy="438643"/>
                <a:chOff x="2588653" y="3420714"/>
                <a:chExt cx="2328929" cy="438643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51D98292-2ED8-3D68-D931-CB806F3ABE48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D54CF548-5E96-8AA5-B2EF-E162DCA0F2B5}"/>
                    </a:ext>
                  </a:extLst>
                </p:cNvPr>
                <p:cNvSpPr txBox="1"/>
                <p:nvPr/>
              </p:nvSpPr>
              <p:spPr>
                <a:xfrm>
                  <a:off x="2588653" y="3461783"/>
                  <a:ext cx="2328929" cy="372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Optimización</a:t>
                  </a: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E77297C6-E6F3-5AA7-936D-AB2D8EA5253A}"/>
                  </a:ext>
                </a:extLst>
              </p:cNvPr>
              <p:cNvGrpSpPr/>
              <p:nvPr/>
            </p:nvGrpSpPr>
            <p:grpSpPr>
              <a:xfrm>
                <a:off x="5105521" y="3858596"/>
                <a:ext cx="1771797" cy="438643"/>
                <a:chOff x="5047567" y="3429000"/>
                <a:chExt cx="1771797" cy="438643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E6E77C70-6372-0CEE-5D02-779B047E3033}"/>
                    </a:ext>
                  </a:extLst>
                </p:cNvPr>
                <p:cNvSpPr/>
                <p:nvPr/>
              </p:nvSpPr>
              <p:spPr>
                <a:xfrm>
                  <a:off x="5047567" y="3429000"/>
                  <a:ext cx="1765358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BDAEBF6-06F6-400D-6606-949527B51976}"/>
                    </a:ext>
                  </a:extLst>
                </p:cNvPr>
                <p:cNvSpPr txBox="1"/>
                <p:nvPr/>
              </p:nvSpPr>
              <p:spPr>
                <a:xfrm>
                  <a:off x="5054005" y="3467458"/>
                  <a:ext cx="1765359" cy="3725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Entrenamiento</a:t>
                  </a:r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69A6B05-B71C-02D8-25AD-CEC989E8ED89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0" cy="3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Logistic Regression</a:t>
                </a:r>
              </a:p>
            </p:txBody>
          </p:sp>
          <p:sp>
            <p:nvSpPr>
              <p:cNvPr id="89" name="Arrow: Right 88">
                <a:extLst>
                  <a:ext uri="{FF2B5EF4-FFF2-40B4-BE49-F238E27FC236}">
                    <a16:creationId xmlns:a16="http://schemas.microsoft.com/office/drawing/2014/main" id="{E8F18634-0508-7F40-F0F1-450F4F901790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5C32653-752B-6ED6-91B3-6809D263061F}"/>
                </a:ext>
              </a:extLst>
            </p:cNvPr>
            <p:cNvGrpSpPr/>
            <p:nvPr/>
          </p:nvGrpSpPr>
          <p:grpSpPr>
            <a:xfrm>
              <a:off x="4129701" y="2506364"/>
              <a:ext cx="4520548" cy="830283"/>
              <a:chOff x="2414725" y="3550819"/>
              <a:chExt cx="4520548" cy="830282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A2F9578-D3C0-A1E4-6A89-F67BEE8ED68D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A806BE69-A92F-A234-B667-3F30EEBABEBE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1F0D14F8-CAF4-F493-818C-66DC5C775FB8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E46022B-D821-0005-3DC9-86C3928E1837}"/>
                    </a:ext>
                  </a:extLst>
                </p:cNvPr>
                <p:cNvSpPr txBox="1"/>
                <p:nvPr/>
              </p:nvSpPr>
              <p:spPr>
                <a:xfrm>
                  <a:off x="2588652" y="3461505"/>
                  <a:ext cx="2328929" cy="372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Optimización</a:t>
                  </a:r>
                  <a:endParaRPr lang="en-US" sz="1600" dirty="0"/>
                </a:p>
              </p:txBody>
            </p:sp>
          </p:grp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F35D471-F68E-21FD-6F87-7A1E93796554}"/>
                  </a:ext>
                </a:extLst>
              </p:cNvPr>
              <p:cNvSpPr/>
              <p:nvPr/>
            </p:nvSpPr>
            <p:spPr>
              <a:xfrm>
                <a:off x="5105521" y="3858596"/>
                <a:ext cx="1765358" cy="438642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2661A0-37B5-6FAC-3A31-D14C318A5D04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0" cy="3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SVM</a:t>
                </a:r>
              </a:p>
            </p:txBody>
          </p:sp>
          <p:sp>
            <p:nvSpPr>
              <p:cNvPr id="75" name="Arrow: Right 74">
                <a:extLst>
                  <a:ext uri="{FF2B5EF4-FFF2-40B4-BE49-F238E27FC236}">
                    <a16:creationId xmlns:a16="http://schemas.microsoft.com/office/drawing/2014/main" id="{A28270EF-65FC-B2AB-814C-4CD34D3D5E0E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629FDD4-AC1F-8FF9-C941-3CAB2025D6AD}"/>
                </a:ext>
              </a:extLst>
            </p:cNvPr>
            <p:cNvGrpSpPr/>
            <p:nvPr/>
          </p:nvGrpSpPr>
          <p:grpSpPr>
            <a:xfrm>
              <a:off x="4129701" y="3422428"/>
              <a:ext cx="4520548" cy="830283"/>
              <a:chOff x="2414725" y="3550819"/>
              <a:chExt cx="4520548" cy="83028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C09553C-9B2F-6F50-0543-2874089F5B8D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276A17B-DF3B-856D-C604-8C157F847C40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8757FC99-B197-C231-475B-91041C0F98E0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166E7E69-AAA6-C9E6-2238-FE59CA3AB659}"/>
                    </a:ext>
                  </a:extLst>
                </p:cNvPr>
                <p:cNvSpPr txBox="1"/>
                <p:nvPr/>
              </p:nvSpPr>
              <p:spPr>
                <a:xfrm>
                  <a:off x="2588652" y="3461505"/>
                  <a:ext cx="2328929" cy="3725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Optimización</a:t>
                  </a:r>
                </a:p>
              </p:txBody>
            </p: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806A72D-7772-C5B6-2B0C-AA41B98C5C92}"/>
                  </a:ext>
                </a:extLst>
              </p:cNvPr>
              <p:cNvSpPr/>
              <p:nvPr/>
            </p:nvSpPr>
            <p:spPr>
              <a:xfrm>
                <a:off x="5105521" y="3858596"/>
                <a:ext cx="1765358" cy="438642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C080D3B-A679-33F9-B5BC-635E2654BEB5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0" cy="3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XGBoost</a:t>
                </a:r>
              </a:p>
            </p:txBody>
          </p:sp>
          <p:sp>
            <p:nvSpPr>
              <p:cNvPr id="66" name="Arrow: Right 65">
                <a:extLst>
                  <a:ext uri="{FF2B5EF4-FFF2-40B4-BE49-F238E27FC236}">
                    <a16:creationId xmlns:a16="http://schemas.microsoft.com/office/drawing/2014/main" id="{14AFD906-07A9-E7C8-5C92-72D086AE9CCA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8FDDE0-2B0A-C63A-6FA0-4A471F68C752}"/>
                </a:ext>
              </a:extLst>
            </p:cNvPr>
            <p:cNvSpPr txBox="1"/>
            <p:nvPr/>
          </p:nvSpPr>
          <p:spPr>
            <a:xfrm>
              <a:off x="3992694" y="1237040"/>
              <a:ext cx="4840125" cy="37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Módulo de Generación de modelos</a:t>
              </a:r>
            </a:p>
          </p:txBody>
        </p:sp>
      </p:grp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C756F338-8521-DCD8-3585-49E9B5F4FC25}"/>
              </a:ext>
            </a:extLst>
          </p:cNvPr>
          <p:cNvSpPr/>
          <p:nvPr/>
        </p:nvSpPr>
        <p:spPr>
          <a:xfrm rot="5400000">
            <a:off x="2619984" y="3139590"/>
            <a:ext cx="423428" cy="319462"/>
          </a:xfrm>
          <a:prstGeom prst="rightArrow">
            <a:avLst>
              <a:gd name="adj1" fmla="val 50000"/>
              <a:gd name="adj2" fmla="val 58063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Arrow: Bent 95">
            <a:extLst>
              <a:ext uri="{FF2B5EF4-FFF2-40B4-BE49-F238E27FC236}">
                <a16:creationId xmlns:a16="http://schemas.microsoft.com/office/drawing/2014/main" id="{8CB91285-EBD1-CA8A-051F-F92499138A9B}"/>
              </a:ext>
            </a:extLst>
          </p:cNvPr>
          <p:cNvSpPr/>
          <p:nvPr/>
        </p:nvSpPr>
        <p:spPr>
          <a:xfrm rot="5400000">
            <a:off x="7793186" y="1627568"/>
            <a:ext cx="1121207" cy="980137"/>
          </a:xfrm>
          <a:prstGeom prst="bentArrow">
            <a:avLst>
              <a:gd name="adj1" fmla="val 13398"/>
              <a:gd name="adj2" fmla="val 16008"/>
              <a:gd name="adj3" fmla="val 20939"/>
              <a:gd name="adj4" fmla="val 43750"/>
            </a:avLst>
          </a:prstGeom>
          <a:solidFill>
            <a:srgbClr val="0046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BC58509-A2D0-106D-748D-37B003F642DE}"/>
              </a:ext>
            </a:extLst>
          </p:cNvPr>
          <p:cNvGrpSpPr/>
          <p:nvPr/>
        </p:nvGrpSpPr>
        <p:grpSpPr>
          <a:xfrm>
            <a:off x="7668041" y="2329867"/>
            <a:ext cx="2311708" cy="2650604"/>
            <a:chOff x="7098325" y="4057726"/>
            <a:chExt cx="2311708" cy="2650604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1895474-0914-0106-B209-83487729EEE6}"/>
                </a:ext>
              </a:extLst>
            </p:cNvPr>
            <p:cNvSpPr/>
            <p:nvPr/>
          </p:nvSpPr>
          <p:spPr>
            <a:xfrm>
              <a:off x="7150317" y="4422810"/>
              <a:ext cx="2113245" cy="2285520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81F324CD-2AA5-AA2A-7519-3727A0A88C78}"/>
                </a:ext>
              </a:extLst>
            </p:cNvPr>
            <p:cNvGrpSpPr/>
            <p:nvPr/>
          </p:nvGrpSpPr>
          <p:grpSpPr>
            <a:xfrm>
              <a:off x="7642507" y="4978792"/>
              <a:ext cx="1404850" cy="319212"/>
              <a:chOff x="9991952" y="7481384"/>
              <a:chExt cx="1807765" cy="319212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06084FEC-33AB-25A8-8F7A-A8EF18A006C9}"/>
                  </a:ext>
                </a:extLst>
              </p:cNvPr>
              <p:cNvSpPr/>
              <p:nvPr/>
            </p:nvSpPr>
            <p:spPr>
              <a:xfrm>
                <a:off x="10004673" y="7487461"/>
                <a:ext cx="1670172" cy="313135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73F2220-F6B0-6E59-BE59-05F2DEF52ED7}"/>
                  </a:ext>
                </a:extLst>
              </p:cNvPr>
              <p:cNvSpPr txBox="1"/>
              <p:nvPr/>
            </p:nvSpPr>
            <p:spPr>
              <a:xfrm>
                <a:off x="9991952" y="7481384"/>
                <a:ext cx="18077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Predicciones</a:t>
                </a: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523ED8D-90A9-937F-5CA8-71A55A0BEBF9}"/>
                </a:ext>
              </a:extLst>
            </p:cNvPr>
            <p:cNvSpPr txBox="1"/>
            <p:nvPr/>
          </p:nvSpPr>
          <p:spPr>
            <a:xfrm>
              <a:off x="7150316" y="4467637"/>
              <a:ext cx="21132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Servicio web</a:t>
              </a:r>
            </a:p>
          </p:txBody>
        </p:sp>
        <p:pic>
          <p:nvPicPr>
            <p:cNvPr id="102" name="Graphic 101" descr="Cloud with solid fill">
              <a:extLst>
                <a:ext uri="{FF2B5EF4-FFF2-40B4-BE49-F238E27FC236}">
                  <a16:creationId xmlns:a16="http://schemas.microsoft.com/office/drawing/2014/main" id="{9BAE228E-1AF4-D07E-71D9-AAEFC2C247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23241" y="4057726"/>
              <a:ext cx="686792" cy="686792"/>
            </a:xfrm>
            <a:prstGeom prst="rect">
              <a:avLst/>
            </a:prstGeom>
          </p:spPr>
        </p:pic>
        <p:pic>
          <p:nvPicPr>
            <p:cNvPr id="103" name="Graphic 102" descr="Single gear with solid fill">
              <a:extLst>
                <a:ext uri="{FF2B5EF4-FFF2-40B4-BE49-F238E27FC236}">
                  <a16:creationId xmlns:a16="http://schemas.microsoft.com/office/drawing/2014/main" id="{AB4F9C6C-44CA-38F1-ACD8-23A0CFE03E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98325" y="4753708"/>
              <a:ext cx="775653" cy="775653"/>
            </a:xfrm>
            <a:prstGeom prst="rect">
              <a:avLst/>
            </a:prstGeom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DEED48B-12DC-10CA-E42B-2E47F4091F9A}"/>
                </a:ext>
              </a:extLst>
            </p:cNvPr>
            <p:cNvSpPr/>
            <p:nvPr/>
          </p:nvSpPr>
          <p:spPr>
            <a:xfrm>
              <a:off x="7785038" y="5586332"/>
              <a:ext cx="914378" cy="313135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F1E463B-1B65-6E01-0438-11DBD5AF1C46}"/>
                </a:ext>
              </a:extLst>
            </p:cNvPr>
            <p:cNvSpPr txBox="1"/>
            <p:nvPr/>
          </p:nvSpPr>
          <p:spPr>
            <a:xfrm>
              <a:off x="7783772" y="5602701"/>
              <a:ext cx="9143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Métricas</a:t>
              </a:r>
              <a:endParaRPr lang="en-US" sz="1100" dirty="0"/>
            </a:p>
          </p:txBody>
        </p:sp>
        <p:pic>
          <p:nvPicPr>
            <p:cNvPr id="106" name="Graphic 105" descr="Mathematics with solid fill">
              <a:extLst>
                <a:ext uri="{FF2B5EF4-FFF2-40B4-BE49-F238E27FC236}">
                  <a16:creationId xmlns:a16="http://schemas.microsoft.com/office/drawing/2014/main" id="{BE14C1BE-E008-EFA0-8A67-B933B30431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23379" y="5451064"/>
              <a:ext cx="583670" cy="583670"/>
            </a:xfrm>
            <a:prstGeom prst="rect">
              <a:avLst/>
            </a:prstGeom>
          </p:spPr>
        </p:pic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73CE12F-E7EF-A1A6-BCE7-8F71909A34F7}"/>
                </a:ext>
              </a:extLst>
            </p:cNvPr>
            <p:cNvSpPr/>
            <p:nvPr/>
          </p:nvSpPr>
          <p:spPr>
            <a:xfrm>
              <a:off x="7769838" y="6132014"/>
              <a:ext cx="914378" cy="313135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6DB7EAE-FEA6-807D-792A-2BA2777F6975}"/>
                </a:ext>
              </a:extLst>
            </p:cNvPr>
            <p:cNvSpPr txBox="1"/>
            <p:nvPr/>
          </p:nvSpPr>
          <p:spPr>
            <a:xfrm>
              <a:off x="7768572" y="6148383"/>
              <a:ext cx="9004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Gráficos</a:t>
              </a:r>
              <a:endParaRPr lang="en-US" sz="1100" dirty="0"/>
            </a:p>
          </p:txBody>
        </p:sp>
        <p:pic>
          <p:nvPicPr>
            <p:cNvPr id="123" name="Graphic 122" descr="Bar graph with upward trend with solid fill">
              <a:extLst>
                <a:ext uri="{FF2B5EF4-FFF2-40B4-BE49-F238E27FC236}">
                  <a16:creationId xmlns:a16="http://schemas.microsoft.com/office/drawing/2014/main" id="{4E5E5EFA-935A-4093-3B29-FB08DE7FB1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57299" y="5909988"/>
              <a:ext cx="774817" cy="774817"/>
            </a:xfrm>
            <a:prstGeom prst="rect">
              <a:avLst/>
            </a:prstGeom>
          </p:spPr>
        </p:pic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7EBFA05-F3BF-167F-3EAF-C8D02A0B6BA3}"/>
              </a:ext>
            </a:extLst>
          </p:cNvPr>
          <p:cNvSpPr txBox="1"/>
          <p:nvPr/>
        </p:nvSpPr>
        <p:spPr>
          <a:xfrm>
            <a:off x="3824159" y="4847324"/>
            <a:ext cx="145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Entrenamiento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0F6943C-B399-1E1E-8307-0AB950B0FE3C}"/>
              </a:ext>
            </a:extLst>
          </p:cNvPr>
          <p:cNvSpPr txBox="1"/>
          <p:nvPr/>
        </p:nvSpPr>
        <p:spPr>
          <a:xfrm>
            <a:off x="3835307" y="5607590"/>
            <a:ext cx="145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Entrenamiento</a:t>
            </a:r>
          </a:p>
        </p:txBody>
      </p:sp>
    </p:spTree>
    <p:extLst>
      <p:ext uri="{BB962C8B-B14F-4D97-AF65-F5344CB8AC3E}">
        <p14:creationId xmlns:p14="http://schemas.microsoft.com/office/powerpoint/2010/main" val="73335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A84B3-B389-2847-546B-1567C74B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40EA505-A876-6455-2D8C-0FF76DDD9C9C}"/>
              </a:ext>
            </a:extLst>
          </p:cNvPr>
          <p:cNvSpPr/>
          <p:nvPr/>
        </p:nvSpPr>
        <p:spPr>
          <a:xfrm rot="10800000">
            <a:off x="817806" y="624624"/>
            <a:ext cx="10556386" cy="5957660"/>
          </a:xfrm>
          <a:prstGeom prst="round2SameRect">
            <a:avLst>
              <a:gd name="adj1" fmla="val 8411"/>
              <a:gd name="adj2" fmla="val 0"/>
            </a:avLst>
          </a:prstGeom>
          <a:solidFill>
            <a:srgbClr val="ECFFF2"/>
          </a:solidFill>
          <a:ln>
            <a:solidFill>
              <a:srgbClr val="ECFF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28A6ACAF-AEBF-052F-B51C-0758B26B1C86}"/>
              </a:ext>
            </a:extLst>
          </p:cNvPr>
          <p:cNvSpPr/>
          <p:nvPr/>
        </p:nvSpPr>
        <p:spPr>
          <a:xfrm>
            <a:off x="817809" y="134585"/>
            <a:ext cx="10556384" cy="57375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Sistema de predicción de quiebra de empresas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E1F205D-69C0-EB77-B73B-1703B2A15625}"/>
              </a:ext>
            </a:extLst>
          </p:cNvPr>
          <p:cNvGrpSpPr/>
          <p:nvPr/>
        </p:nvGrpSpPr>
        <p:grpSpPr>
          <a:xfrm>
            <a:off x="88528" y="2355142"/>
            <a:ext cx="1304202" cy="1639079"/>
            <a:chOff x="228780" y="4263453"/>
            <a:chExt cx="1304202" cy="1639079"/>
          </a:xfrm>
        </p:grpSpPr>
        <p:sp>
          <p:nvSpPr>
            <p:cNvPr id="224" name="Flowchart: Alternate Process 223">
              <a:extLst>
                <a:ext uri="{FF2B5EF4-FFF2-40B4-BE49-F238E27FC236}">
                  <a16:creationId xmlns:a16="http://schemas.microsoft.com/office/drawing/2014/main" id="{CEAA204F-0CD4-0B45-A5B3-3E960290C0C1}"/>
                </a:ext>
              </a:extLst>
            </p:cNvPr>
            <p:cNvSpPr/>
            <p:nvPr/>
          </p:nvSpPr>
          <p:spPr>
            <a:xfrm>
              <a:off x="228780" y="4263454"/>
              <a:ext cx="1304200" cy="1639078"/>
            </a:xfrm>
            <a:prstGeom prst="flowChartAlternateProcess">
              <a:avLst/>
            </a:prstGeom>
            <a:solidFill>
              <a:srgbClr val="CFE6D6"/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: Top Corners Rounded 224">
              <a:extLst>
                <a:ext uri="{FF2B5EF4-FFF2-40B4-BE49-F238E27FC236}">
                  <a16:creationId xmlns:a16="http://schemas.microsoft.com/office/drawing/2014/main" id="{3987FAF6-FEA2-BAB0-5E52-CA432F8DC297}"/>
                </a:ext>
              </a:extLst>
            </p:cNvPr>
            <p:cNvSpPr/>
            <p:nvPr/>
          </p:nvSpPr>
          <p:spPr>
            <a:xfrm>
              <a:off x="228782" y="426345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Origen de datos</a:t>
              </a:r>
            </a:p>
          </p:txBody>
        </p:sp>
        <p:pic>
          <p:nvPicPr>
            <p:cNvPr id="227" name="Graphic 226" descr="Database with solid fill">
              <a:extLst>
                <a:ext uri="{FF2B5EF4-FFF2-40B4-BE49-F238E27FC236}">
                  <a16:creationId xmlns:a16="http://schemas.microsoft.com/office/drawing/2014/main" id="{E812547A-D5C5-5E58-EE2D-552659B8FA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3680" y="4846818"/>
              <a:ext cx="914400" cy="9144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80C91E4-421B-E2CB-78B7-69787A7629C8}"/>
              </a:ext>
            </a:extLst>
          </p:cNvPr>
          <p:cNvGrpSpPr/>
          <p:nvPr/>
        </p:nvGrpSpPr>
        <p:grpSpPr>
          <a:xfrm>
            <a:off x="1070948" y="569191"/>
            <a:ext cx="2057815" cy="2138865"/>
            <a:chOff x="1798169" y="2213241"/>
            <a:chExt cx="2187498" cy="212841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2155A85-2F0F-3489-F1FD-48DBC59DB419}"/>
                </a:ext>
              </a:extLst>
            </p:cNvPr>
            <p:cNvSpPr/>
            <p:nvPr/>
          </p:nvSpPr>
          <p:spPr>
            <a:xfrm>
              <a:off x="2192005" y="2628680"/>
              <a:ext cx="1793662" cy="1712975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1" name="Graphic 40" descr="Folder with solid fill">
              <a:extLst>
                <a:ext uri="{FF2B5EF4-FFF2-40B4-BE49-F238E27FC236}">
                  <a16:creationId xmlns:a16="http://schemas.microsoft.com/office/drawing/2014/main" id="{32616707-24DE-195E-7427-0F4508A5B7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8169" y="2213241"/>
              <a:ext cx="774796" cy="774796"/>
            </a:xfrm>
            <a:prstGeom prst="rect">
              <a:avLst/>
            </a:prstGeom>
          </p:spPr>
        </p:pic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FF03CA1-9621-2FAA-781B-B61890C5C732}"/>
                </a:ext>
              </a:extLst>
            </p:cNvPr>
            <p:cNvGrpSpPr/>
            <p:nvPr/>
          </p:nvGrpSpPr>
          <p:grpSpPr>
            <a:xfrm>
              <a:off x="2482226" y="3094997"/>
              <a:ext cx="1213219" cy="1122275"/>
              <a:chOff x="10817191" y="3795143"/>
              <a:chExt cx="1213219" cy="1122275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209B9BFC-C462-5A9A-39C5-5629B3B59F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166A3C4-B30B-900C-E664-EEC52771C442}"/>
                  </a:ext>
                </a:extLst>
              </p:cNvPr>
              <p:cNvSpPr txBox="1"/>
              <p:nvPr/>
            </p:nvSpPr>
            <p:spPr>
              <a:xfrm>
                <a:off x="10817191" y="4394198"/>
                <a:ext cx="12132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Análisis exploratorio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1608B99-F1A9-BFEA-690E-43B9FA3644CE}"/>
                </a:ext>
              </a:extLst>
            </p:cNvPr>
            <p:cNvSpPr txBox="1"/>
            <p:nvPr/>
          </p:nvSpPr>
          <p:spPr>
            <a:xfrm>
              <a:off x="2192005" y="2642876"/>
              <a:ext cx="1793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Análisis exploratorio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2D913F4-74F9-0E37-F4B9-27EA9307A308}"/>
              </a:ext>
            </a:extLst>
          </p:cNvPr>
          <p:cNvGrpSpPr/>
          <p:nvPr/>
        </p:nvGrpSpPr>
        <p:grpSpPr>
          <a:xfrm>
            <a:off x="3702182" y="659829"/>
            <a:ext cx="2526636" cy="2627755"/>
            <a:chOff x="7109520" y="3089361"/>
            <a:chExt cx="3025662" cy="2969412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C480D4B-0E1F-579D-9FB5-B800B41DAFAB}"/>
                </a:ext>
              </a:extLst>
            </p:cNvPr>
            <p:cNvSpPr/>
            <p:nvPr/>
          </p:nvSpPr>
          <p:spPr>
            <a:xfrm>
              <a:off x="7496920" y="3500423"/>
              <a:ext cx="2638262" cy="2558350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1" name="Graphic 110" descr="Folder with solid fill">
              <a:extLst>
                <a:ext uri="{FF2B5EF4-FFF2-40B4-BE49-F238E27FC236}">
                  <a16:creationId xmlns:a16="http://schemas.microsoft.com/office/drawing/2014/main" id="{86558E14-9863-CCFF-7911-3ADB36BE90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09520" y="3089361"/>
              <a:ext cx="774796" cy="774796"/>
            </a:xfrm>
            <a:prstGeom prst="rect">
              <a:avLst/>
            </a:prstGeom>
          </p:spPr>
        </p:pic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151DE5F-036C-F3C1-FBF6-7D771AC6CA7B}"/>
                </a:ext>
              </a:extLst>
            </p:cNvPr>
            <p:cNvGrpSpPr/>
            <p:nvPr/>
          </p:nvGrpSpPr>
          <p:grpSpPr>
            <a:xfrm>
              <a:off x="8209441" y="3937417"/>
              <a:ext cx="1213219" cy="1122275"/>
              <a:chOff x="10817191" y="3795143"/>
              <a:chExt cx="1213219" cy="1122275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DC84267E-BB91-2BF5-D837-7DF9FA89B2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5FF6972-3D94-77AC-D6E6-5833ADB5BA00}"/>
                  </a:ext>
                </a:extLst>
              </p:cNvPr>
              <p:cNvSpPr txBox="1"/>
              <p:nvPr/>
            </p:nvSpPr>
            <p:spPr>
              <a:xfrm>
                <a:off x="10817191" y="4394198"/>
                <a:ext cx="12132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Split Notebook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7F1E6F0-E59C-6A90-C053-FB9AE5A237DB}"/>
                </a:ext>
              </a:extLst>
            </p:cNvPr>
            <p:cNvSpPr txBox="1"/>
            <p:nvPr/>
          </p:nvSpPr>
          <p:spPr>
            <a:xfrm>
              <a:off x="7496920" y="3514619"/>
              <a:ext cx="26382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Split en train y test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A5BD8BF-5C61-0C2C-71FA-A91520D5F614}"/>
                </a:ext>
              </a:extLst>
            </p:cNvPr>
            <p:cNvGrpSpPr/>
            <p:nvPr/>
          </p:nvGrpSpPr>
          <p:grpSpPr>
            <a:xfrm>
              <a:off x="7519721" y="5189768"/>
              <a:ext cx="1180451" cy="791580"/>
              <a:chOff x="10728121" y="3202641"/>
              <a:chExt cx="1180451" cy="791580"/>
            </a:xfrm>
          </p:grpSpPr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8D8D9BA6-ABF4-21AB-F531-395082C23A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7E30EC9-DA89-0994-76B1-0E2FC403B318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80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Train dataset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FA69607-894D-3E0F-2D0C-E5A3DC32C0F8}"/>
                </a:ext>
              </a:extLst>
            </p:cNvPr>
            <p:cNvGrpSpPr/>
            <p:nvPr/>
          </p:nvGrpSpPr>
          <p:grpSpPr>
            <a:xfrm>
              <a:off x="8896235" y="5204824"/>
              <a:ext cx="1119153" cy="791580"/>
              <a:chOff x="10728121" y="3202641"/>
              <a:chExt cx="1119153" cy="791580"/>
            </a:xfrm>
          </p:grpSpPr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B522F104-BBAE-3135-0A43-B6EE5F50A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0C5DC81-C56C-F9E6-5DC8-BEE673558177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dataset</a:t>
                </a:r>
              </a:p>
            </p:txBody>
          </p:sp>
        </p:grpSp>
        <p:pic>
          <p:nvPicPr>
            <p:cNvPr id="139" name="Graphic 138" descr="Fork In Road with solid fill">
              <a:extLst>
                <a:ext uri="{FF2B5EF4-FFF2-40B4-BE49-F238E27FC236}">
                  <a16:creationId xmlns:a16="http://schemas.microsoft.com/office/drawing/2014/main" id="{94A5F471-1577-DA45-7172-5F521481C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8501201" y="5009995"/>
              <a:ext cx="629697" cy="629697"/>
            </a:xfrm>
            <a:prstGeom prst="rect">
              <a:avLst/>
            </a:prstGeom>
          </p:spPr>
        </p:pic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132BED7-4029-F1B3-DC5D-55527D5D1120}"/>
              </a:ext>
            </a:extLst>
          </p:cNvPr>
          <p:cNvGrpSpPr/>
          <p:nvPr/>
        </p:nvGrpSpPr>
        <p:grpSpPr>
          <a:xfrm>
            <a:off x="6763151" y="645976"/>
            <a:ext cx="4279061" cy="2774307"/>
            <a:chOff x="6696693" y="6160289"/>
            <a:chExt cx="4279061" cy="2774307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BAA2BD0A-25EC-6BE4-95AD-A56B71DAD908}"/>
                </a:ext>
              </a:extLst>
            </p:cNvPr>
            <p:cNvSpPr/>
            <p:nvPr/>
          </p:nvSpPr>
          <p:spPr>
            <a:xfrm>
              <a:off x="7071978" y="6575268"/>
              <a:ext cx="3891662" cy="235932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3" name="Graphic 302" descr="Folder with solid fill">
              <a:extLst>
                <a:ext uri="{FF2B5EF4-FFF2-40B4-BE49-F238E27FC236}">
                  <a16:creationId xmlns:a16="http://schemas.microsoft.com/office/drawing/2014/main" id="{B616035C-26F3-77ED-3F3E-79A6BB6E1F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96693" y="6160289"/>
              <a:ext cx="774796" cy="774796"/>
            </a:xfrm>
            <a:prstGeom prst="rect">
              <a:avLst/>
            </a:prstGeom>
          </p:spPr>
        </p:pic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92F40AE9-263C-0F86-7625-032D1A8BEAD3}"/>
                </a:ext>
              </a:extLst>
            </p:cNvPr>
            <p:cNvSpPr txBox="1"/>
            <p:nvPr/>
          </p:nvSpPr>
          <p:spPr>
            <a:xfrm>
              <a:off x="7084092" y="6589463"/>
              <a:ext cx="3891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Procesamiento de nulos y outliers</a:t>
              </a: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9C1C4CEC-9F1D-2EBA-8B93-C89213F4C6C1}"/>
                </a:ext>
              </a:extLst>
            </p:cNvPr>
            <p:cNvGrpSpPr/>
            <p:nvPr/>
          </p:nvGrpSpPr>
          <p:grpSpPr>
            <a:xfrm>
              <a:off x="6973716" y="6915525"/>
              <a:ext cx="1436147" cy="1122275"/>
              <a:chOff x="10723415" y="3795143"/>
              <a:chExt cx="1436147" cy="1122275"/>
            </a:xfrm>
          </p:grpSpPr>
          <p:pic>
            <p:nvPicPr>
              <p:cNvPr id="318" name="Picture 317">
                <a:extLst>
                  <a:ext uri="{FF2B5EF4-FFF2-40B4-BE49-F238E27FC236}">
                    <a16:creationId xmlns:a16="http://schemas.microsoft.com/office/drawing/2014/main" id="{0A345518-5C8F-9716-8FF2-5614C79BC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3CB84B35-610F-016E-B7F3-B33FF400B6CA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Procesamiento de nulos</a:t>
                </a:r>
              </a:p>
            </p:txBody>
          </p:sp>
        </p:grpSp>
        <p:pic>
          <p:nvPicPr>
            <p:cNvPr id="306" name="Graphic 305" descr="Line arrow: Counter-clockwise curve with solid fill">
              <a:extLst>
                <a:ext uri="{FF2B5EF4-FFF2-40B4-BE49-F238E27FC236}">
                  <a16:creationId xmlns:a16="http://schemas.microsoft.com/office/drawing/2014/main" id="{9A142AB6-58BE-EC88-91E4-5F8E84D5C3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6574736" flipH="1">
              <a:off x="7889779" y="6960726"/>
              <a:ext cx="914400" cy="914400"/>
            </a:xfrm>
            <a:prstGeom prst="rect">
              <a:avLst/>
            </a:prstGeom>
          </p:spPr>
        </p:pic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FC2858A7-20DB-489B-C6B4-9974FCBFAB55}"/>
                </a:ext>
              </a:extLst>
            </p:cNvPr>
            <p:cNvGrpSpPr/>
            <p:nvPr/>
          </p:nvGrpSpPr>
          <p:grpSpPr>
            <a:xfrm>
              <a:off x="7921953" y="7674273"/>
              <a:ext cx="1436147" cy="1122275"/>
              <a:chOff x="10723415" y="3795143"/>
              <a:chExt cx="1436147" cy="1122275"/>
            </a:xfrm>
          </p:grpSpPr>
          <p:pic>
            <p:nvPicPr>
              <p:cNvPr id="316" name="Picture 315">
                <a:extLst>
                  <a:ext uri="{FF2B5EF4-FFF2-40B4-BE49-F238E27FC236}">
                    <a16:creationId xmlns:a16="http://schemas.microsoft.com/office/drawing/2014/main" id="{E7A66E2C-9800-8CEE-EE9D-104109E9B4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F0340BF5-71C1-0929-290D-EF55B990E996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Procesamiento de outliers</a:t>
                </a:r>
              </a:p>
            </p:txBody>
          </p: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21F52ECD-E830-FA7F-C4BE-5929646A3C09}"/>
                </a:ext>
              </a:extLst>
            </p:cNvPr>
            <p:cNvGrpSpPr/>
            <p:nvPr/>
          </p:nvGrpSpPr>
          <p:grpSpPr>
            <a:xfrm>
              <a:off x="9783189" y="7214952"/>
              <a:ext cx="1180451" cy="791580"/>
              <a:chOff x="10728121" y="3202641"/>
              <a:chExt cx="1180451" cy="791580"/>
            </a:xfrm>
          </p:grpSpPr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499C98D5-FBB2-45BD-7D57-103AA416A9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5AF49023-D019-7D5C-F542-6A8A036B19CD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80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Train dataset</a:t>
                </a:r>
              </a:p>
            </p:txBody>
          </p: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ADAE206A-144D-78FD-202B-88A7388308B9}"/>
                </a:ext>
              </a:extLst>
            </p:cNvPr>
            <p:cNvGrpSpPr/>
            <p:nvPr/>
          </p:nvGrpSpPr>
          <p:grpSpPr>
            <a:xfrm>
              <a:off x="9813837" y="8088919"/>
              <a:ext cx="1119153" cy="791580"/>
              <a:chOff x="10728121" y="3202641"/>
              <a:chExt cx="1119153" cy="791580"/>
            </a:xfrm>
          </p:grpSpPr>
          <p:pic>
            <p:nvPicPr>
              <p:cNvPr id="312" name="Picture 311">
                <a:extLst>
                  <a:ext uri="{FF2B5EF4-FFF2-40B4-BE49-F238E27FC236}">
                    <a16:creationId xmlns:a16="http://schemas.microsoft.com/office/drawing/2014/main" id="{9FBF0EAC-27C3-5E75-F726-663CFC0C73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CF62B174-1202-1447-6F8A-D9A006EF914A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dataset</a:t>
                </a:r>
              </a:p>
            </p:txBody>
          </p:sp>
        </p:grpSp>
        <p:pic>
          <p:nvPicPr>
            <p:cNvPr id="310" name="Graphic 309" descr="Line arrow: Straight with solid fill">
              <a:extLst>
                <a:ext uri="{FF2B5EF4-FFF2-40B4-BE49-F238E27FC236}">
                  <a16:creationId xmlns:a16="http://schemas.microsoft.com/office/drawing/2014/main" id="{EA160480-4180-932F-800D-D722AC39DA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9344538">
              <a:off x="8908881" y="7338643"/>
              <a:ext cx="914400" cy="914400"/>
            </a:xfrm>
            <a:prstGeom prst="rect">
              <a:avLst/>
            </a:prstGeom>
          </p:spPr>
        </p:pic>
        <p:pic>
          <p:nvPicPr>
            <p:cNvPr id="311" name="Graphic 310" descr="Line arrow: Straight with solid fill">
              <a:extLst>
                <a:ext uri="{FF2B5EF4-FFF2-40B4-BE49-F238E27FC236}">
                  <a16:creationId xmlns:a16="http://schemas.microsoft.com/office/drawing/2014/main" id="{3BAD67D3-E0C0-89E0-B4A8-A17A676A10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2277827">
              <a:off x="8896136" y="7667617"/>
              <a:ext cx="914400" cy="914400"/>
            </a:xfrm>
            <a:prstGeom prst="rect">
              <a:avLst/>
            </a:prstGeom>
          </p:spPr>
        </p:pic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EE86C51D-B202-F229-34D7-CA4A877F6AC0}"/>
              </a:ext>
            </a:extLst>
          </p:cNvPr>
          <p:cNvGrpSpPr/>
          <p:nvPr/>
        </p:nvGrpSpPr>
        <p:grpSpPr>
          <a:xfrm>
            <a:off x="1555785" y="3573809"/>
            <a:ext cx="4569883" cy="2807182"/>
            <a:chOff x="6696083" y="6147299"/>
            <a:chExt cx="4569883" cy="2807182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B0D8318B-411E-B3CC-511E-482D25AB828F}"/>
                </a:ext>
              </a:extLst>
            </p:cNvPr>
            <p:cNvSpPr/>
            <p:nvPr/>
          </p:nvSpPr>
          <p:spPr>
            <a:xfrm>
              <a:off x="7090029" y="6595153"/>
              <a:ext cx="4175937" cy="235932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0" name="Graphic 329" descr="Folder with solid fill">
              <a:extLst>
                <a:ext uri="{FF2B5EF4-FFF2-40B4-BE49-F238E27FC236}">
                  <a16:creationId xmlns:a16="http://schemas.microsoft.com/office/drawing/2014/main" id="{3BC10232-8BA0-3CCC-DDE8-145BFA163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96083" y="6147299"/>
              <a:ext cx="774796" cy="774796"/>
            </a:xfrm>
            <a:prstGeom prst="rect">
              <a:avLst/>
            </a:prstGeom>
          </p:spPr>
        </p:pic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12349498-8377-11D4-91C7-0D2C278D4430}"/>
                </a:ext>
              </a:extLst>
            </p:cNvPr>
            <p:cNvSpPr txBox="1"/>
            <p:nvPr/>
          </p:nvSpPr>
          <p:spPr>
            <a:xfrm>
              <a:off x="7084092" y="6589463"/>
              <a:ext cx="41759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Feature Engineering</a:t>
              </a: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F98E3BB-C1BC-3E37-7597-8DFAA2992EF9}"/>
                </a:ext>
              </a:extLst>
            </p:cNvPr>
            <p:cNvGrpSpPr/>
            <p:nvPr/>
          </p:nvGrpSpPr>
          <p:grpSpPr>
            <a:xfrm>
              <a:off x="6973716" y="6915525"/>
              <a:ext cx="1436147" cy="906832"/>
              <a:chOff x="10723415" y="3795143"/>
              <a:chExt cx="1436147" cy="906832"/>
            </a:xfrm>
          </p:grpSpPr>
          <p:pic>
            <p:nvPicPr>
              <p:cNvPr id="349" name="Picture 348">
                <a:extLst>
                  <a:ext uri="{FF2B5EF4-FFF2-40B4-BE49-F238E27FC236}">
                    <a16:creationId xmlns:a16="http://schemas.microsoft.com/office/drawing/2014/main" id="{70A9D32E-D964-E495-6D11-429FAE29C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946A9FCF-2A36-7A9D-1C2D-DF6DA6375146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Escalado</a:t>
                </a:r>
              </a:p>
            </p:txBody>
          </p:sp>
        </p:grpSp>
        <p:pic>
          <p:nvPicPr>
            <p:cNvPr id="333" name="Graphic 332" descr="Line arrow: Counter-clockwise curve with solid fill">
              <a:extLst>
                <a:ext uri="{FF2B5EF4-FFF2-40B4-BE49-F238E27FC236}">
                  <a16:creationId xmlns:a16="http://schemas.microsoft.com/office/drawing/2014/main" id="{1FA8E0CC-EB85-7E17-C0B5-3D3C890C38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1116648" flipH="1" flipV="1">
              <a:off x="6943060" y="7790043"/>
              <a:ext cx="876870" cy="876870"/>
            </a:xfrm>
            <a:prstGeom prst="rect">
              <a:avLst/>
            </a:prstGeom>
          </p:spPr>
        </p:pic>
        <p:grpSp>
          <p:nvGrpSpPr>
            <p:cNvPr id="334" name="Group 333">
              <a:extLst>
                <a:ext uri="{FF2B5EF4-FFF2-40B4-BE49-F238E27FC236}">
                  <a16:creationId xmlns:a16="http://schemas.microsoft.com/office/drawing/2014/main" id="{72854F0E-EE7C-8F56-73EB-497E8DB9B509}"/>
                </a:ext>
              </a:extLst>
            </p:cNvPr>
            <p:cNvGrpSpPr/>
            <p:nvPr/>
          </p:nvGrpSpPr>
          <p:grpSpPr>
            <a:xfrm>
              <a:off x="7416872" y="7899504"/>
              <a:ext cx="1436147" cy="906832"/>
              <a:chOff x="10723415" y="3795143"/>
              <a:chExt cx="1436147" cy="906832"/>
            </a:xfrm>
          </p:grpSpPr>
          <p:pic>
            <p:nvPicPr>
              <p:cNvPr id="347" name="Picture 346">
                <a:extLst>
                  <a:ext uri="{FF2B5EF4-FFF2-40B4-BE49-F238E27FC236}">
                    <a16:creationId xmlns:a16="http://schemas.microsoft.com/office/drawing/2014/main" id="{C195B2A8-6D6B-58FA-4210-228F96DE3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69CB161-52EB-CCD7-A06B-5E297A8205E1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Balanceo</a:t>
                </a: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4A321FB4-A69B-6E8B-306D-170694274C7D}"/>
                </a:ext>
              </a:extLst>
            </p:cNvPr>
            <p:cNvGrpSpPr/>
            <p:nvPr/>
          </p:nvGrpSpPr>
          <p:grpSpPr>
            <a:xfrm>
              <a:off x="10023505" y="7062113"/>
              <a:ext cx="1180451" cy="791580"/>
              <a:chOff x="10728121" y="3202641"/>
              <a:chExt cx="1180451" cy="791580"/>
            </a:xfrm>
          </p:grpSpPr>
          <p:pic>
            <p:nvPicPr>
              <p:cNvPr id="345" name="Picture 344">
                <a:extLst>
                  <a:ext uri="{FF2B5EF4-FFF2-40B4-BE49-F238E27FC236}">
                    <a16:creationId xmlns:a16="http://schemas.microsoft.com/office/drawing/2014/main" id="{8769D992-6F07-A2D0-8F25-9F5D987D4E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464F2F72-57EA-D0A7-B24A-9A140C0EF98A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80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Train dataset</a:t>
                </a:r>
              </a:p>
            </p:txBody>
          </p:sp>
        </p:grp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A3F15DB2-70F2-ECFB-A20A-905C0D314C1D}"/>
                </a:ext>
              </a:extLst>
            </p:cNvPr>
            <p:cNvGrpSpPr/>
            <p:nvPr/>
          </p:nvGrpSpPr>
          <p:grpSpPr>
            <a:xfrm>
              <a:off x="10054153" y="7936080"/>
              <a:ext cx="1119153" cy="791580"/>
              <a:chOff x="10728121" y="3202641"/>
              <a:chExt cx="1119153" cy="791580"/>
            </a:xfrm>
          </p:grpSpPr>
          <p:pic>
            <p:nvPicPr>
              <p:cNvPr id="343" name="Picture 342">
                <a:extLst>
                  <a:ext uri="{FF2B5EF4-FFF2-40B4-BE49-F238E27FC236}">
                    <a16:creationId xmlns:a16="http://schemas.microsoft.com/office/drawing/2014/main" id="{77A5167D-65EC-99D0-DC7C-4F78D47FE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CBAC9DDF-D621-440B-EB90-45113001085C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dataset</a:t>
                </a:r>
              </a:p>
            </p:txBody>
          </p:sp>
        </p:grpSp>
        <p:pic>
          <p:nvPicPr>
            <p:cNvPr id="337" name="Graphic 336" descr="Line arrow: Straight with solid fill">
              <a:extLst>
                <a:ext uri="{FF2B5EF4-FFF2-40B4-BE49-F238E27FC236}">
                  <a16:creationId xmlns:a16="http://schemas.microsoft.com/office/drawing/2014/main" id="{DB608756-3BD4-143E-7999-46CAFD2280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9344538">
              <a:off x="9389177" y="7095243"/>
              <a:ext cx="914400" cy="914400"/>
            </a:xfrm>
            <a:prstGeom prst="rect">
              <a:avLst/>
            </a:prstGeom>
          </p:spPr>
        </p:pic>
        <p:pic>
          <p:nvPicPr>
            <p:cNvPr id="338" name="Graphic 337" descr="Line arrow: Straight with solid fill">
              <a:extLst>
                <a:ext uri="{FF2B5EF4-FFF2-40B4-BE49-F238E27FC236}">
                  <a16:creationId xmlns:a16="http://schemas.microsoft.com/office/drawing/2014/main" id="{DE1BB178-F411-AB8B-F384-371C4330E6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2277827">
              <a:off x="9376432" y="7424217"/>
              <a:ext cx="914400" cy="914400"/>
            </a:xfrm>
            <a:prstGeom prst="rect">
              <a:avLst/>
            </a:prstGeom>
          </p:spPr>
        </p:pic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00F8488A-E3B8-40C1-E5D6-90582C99BBF1}"/>
                </a:ext>
              </a:extLst>
            </p:cNvPr>
            <p:cNvGrpSpPr/>
            <p:nvPr/>
          </p:nvGrpSpPr>
          <p:grpSpPr>
            <a:xfrm>
              <a:off x="8290861" y="7127402"/>
              <a:ext cx="1436147" cy="1122275"/>
              <a:chOff x="10723415" y="3795143"/>
              <a:chExt cx="1436147" cy="1122275"/>
            </a:xfrm>
          </p:grpSpPr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F6A541FB-9766-0A00-6BC6-6F1E2A6F6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1E1D5142-47CC-DC71-27CE-81CDE98B6754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Selección de features</a:t>
                </a:r>
              </a:p>
            </p:txBody>
          </p:sp>
        </p:grpSp>
        <p:pic>
          <p:nvPicPr>
            <p:cNvPr id="340" name="Graphic 339" descr="Line arrow: Counter-clockwise curve with solid fill">
              <a:extLst>
                <a:ext uri="{FF2B5EF4-FFF2-40B4-BE49-F238E27FC236}">
                  <a16:creationId xmlns:a16="http://schemas.microsoft.com/office/drawing/2014/main" id="{E4C721DD-2ECE-9BD3-98E3-BC2C8D1AB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5108719" flipH="1" flipV="1">
              <a:off x="8487133" y="8023120"/>
              <a:ext cx="876870" cy="876870"/>
            </a:xfrm>
            <a:prstGeom prst="rect">
              <a:avLst/>
            </a:prstGeom>
          </p:spPr>
        </p:pic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694E1FFF-8AF7-FBDB-C2C5-80343802C168}"/>
              </a:ext>
            </a:extLst>
          </p:cNvPr>
          <p:cNvGrpSpPr/>
          <p:nvPr/>
        </p:nvGrpSpPr>
        <p:grpSpPr>
          <a:xfrm>
            <a:off x="6457488" y="3606823"/>
            <a:ext cx="4569273" cy="2795125"/>
            <a:chOff x="7600474" y="6149341"/>
            <a:chExt cx="4569273" cy="2795125"/>
          </a:xfrm>
        </p:grpSpPr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AB3AED37-6943-9686-7067-41931C85A01A}"/>
                </a:ext>
              </a:extLst>
            </p:cNvPr>
            <p:cNvSpPr/>
            <p:nvPr/>
          </p:nvSpPr>
          <p:spPr>
            <a:xfrm>
              <a:off x="7993810" y="6551100"/>
              <a:ext cx="4175937" cy="235932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93" name="Graphic 392" descr="Folder with solid fill">
              <a:extLst>
                <a:ext uri="{FF2B5EF4-FFF2-40B4-BE49-F238E27FC236}">
                  <a16:creationId xmlns:a16="http://schemas.microsoft.com/office/drawing/2014/main" id="{510662F4-14DE-62FB-CDD8-A4F6501BF4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00474" y="6149341"/>
              <a:ext cx="774796" cy="774796"/>
            </a:xfrm>
            <a:prstGeom prst="rect">
              <a:avLst/>
            </a:prstGeom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8D694B15-10A1-8104-14B1-3DB27802AF39}"/>
                </a:ext>
              </a:extLst>
            </p:cNvPr>
            <p:cNvSpPr txBox="1"/>
            <p:nvPr/>
          </p:nvSpPr>
          <p:spPr>
            <a:xfrm>
              <a:off x="7972941" y="6553375"/>
              <a:ext cx="41968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Optimización de hiperparámetros y</a:t>
              </a:r>
            </a:p>
            <a:p>
              <a:pPr algn="ctr"/>
              <a:r>
                <a:rPr lang="en-US" sz="1400" b="1" dirty="0"/>
                <a:t>Entrenamiento de modelos</a:t>
              </a:r>
            </a:p>
          </p:txBody>
        </p: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375F850D-5F5B-3628-38F4-11041FF85477}"/>
                </a:ext>
              </a:extLst>
            </p:cNvPr>
            <p:cNvGrpSpPr/>
            <p:nvPr/>
          </p:nvGrpSpPr>
          <p:grpSpPr>
            <a:xfrm>
              <a:off x="7899750" y="6976863"/>
              <a:ext cx="1436147" cy="1122275"/>
              <a:chOff x="10723415" y="3795143"/>
              <a:chExt cx="1436147" cy="1122275"/>
            </a:xfrm>
          </p:grpSpPr>
          <p:pic>
            <p:nvPicPr>
              <p:cNvPr id="414" name="Picture 413">
                <a:extLst>
                  <a:ext uri="{FF2B5EF4-FFF2-40B4-BE49-F238E27FC236}">
                    <a16:creationId xmlns:a16="http://schemas.microsoft.com/office/drawing/2014/main" id="{5D5C9F92-1953-8C84-F743-A0829368B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85391F6D-3DBA-7193-814E-42BB0AC5E2B8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Logistic</a:t>
                </a:r>
              </a:p>
              <a:p>
                <a:pPr algn="ctr"/>
                <a:r>
                  <a:rPr lang="en-US" sz="1400" dirty="0"/>
                  <a:t>Regression</a:t>
                </a:r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E8BD293A-0114-CBDC-C57D-C561A62F1C73}"/>
                </a:ext>
              </a:extLst>
            </p:cNvPr>
            <p:cNvGrpSpPr/>
            <p:nvPr/>
          </p:nvGrpSpPr>
          <p:grpSpPr>
            <a:xfrm>
              <a:off x="8728613" y="7817551"/>
              <a:ext cx="1041439" cy="1126915"/>
              <a:chOff x="10715233" y="2045728"/>
              <a:chExt cx="1041439" cy="1126915"/>
            </a:xfrm>
          </p:grpSpPr>
          <p:pic>
            <p:nvPicPr>
              <p:cNvPr id="412" name="Graphic 411" descr="Single gear with solid fill">
                <a:extLst>
                  <a:ext uri="{FF2B5EF4-FFF2-40B4-BE49-F238E27FC236}">
                    <a16:creationId xmlns:a16="http://schemas.microsoft.com/office/drawing/2014/main" id="{CC2DED83-ED9B-719B-FAE8-E0C73864E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905792" y="2045728"/>
                <a:ext cx="660322" cy="660322"/>
              </a:xfrm>
              <a:prstGeom prst="rect">
                <a:avLst/>
              </a:prstGeom>
            </p:spPr>
          </p:pic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D3AFAB00-2AE7-753F-B075-FDD546D95379}"/>
                  </a:ext>
                </a:extLst>
              </p:cNvPr>
              <p:cNvSpPr txBox="1"/>
              <p:nvPr/>
            </p:nvSpPr>
            <p:spPr>
              <a:xfrm>
                <a:off x="10715233" y="2649423"/>
                <a:ext cx="10414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Logistic</a:t>
                </a:r>
              </a:p>
              <a:p>
                <a:pPr algn="ctr"/>
                <a:r>
                  <a:rPr lang="en-US" sz="1400" dirty="0"/>
                  <a:t>Regression</a:t>
                </a:r>
              </a:p>
            </p:txBody>
          </p:sp>
        </p:grpSp>
        <p:pic>
          <p:nvPicPr>
            <p:cNvPr id="397" name="Graphic 396" descr="Line arrow: Counter-clockwise curve with solid fill">
              <a:extLst>
                <a:ext uri="{FF2B5EF4-FFF2-40B4-BE49-F238E27FC236}">
                  <a16:creationId xmlns:a16="http://schemas.microsoft.com/office/drawing/2014/main" id="{5681C598-DD2A-536A-4E82-799FC1C409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529221" flipH="1" flipV="1">
              <a:off x="8471668" y="7953261"/>
              <a:ext cx="500596" cy="500596"/>
            </a:xfrm>
            <a:prstGeom prst="rect">
              <a:avLst/>
            </a:prstGeom>
          </p:spPr>
        </p:pic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178D80BA-C75D-FB5C-EB89-403614E1C580}"/>
                </a:ext>
              </a:extLst>
            </p:cNvPr>
            <p:cNvGrpSpPr/>
            <p:nvPr/>
          </p:nvGrpSpPr>
          <p:grpSpPr>
            <a:xfrm>
              <a:off x="9259767" y="6994219"/>
              <a:ext cx="1436147" cy="906832"/>
              <a:chOff x="10723415" y="3795143"/>
              <a:chExt cx="1436147" cy="906832"/>
            </a:xfrm>
          </p:grpSpPr>
          <p:pic>
            <p:nvPicPr>
              <p:cNvPr id="410" name="Picture 409">
                <a:extLst>
                  <a:ext uri="{FF2B5EF4-FFF2-40B4-BE49-F238E27FC236}">
                    <a16:creationId xmlns:a16="http://schemas.microsoft.com/office/drawing/2014/main" id="{8639F662-D1F3-20F4-9781-A85BDF103F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51B00B1D-D158-ABFF-102C-D4FB44EC6FDA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SVM</a:t>
                </a:r>
              </a:p>
            </p:txBody>
          </p:sp>
        </p:grp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CB0B8CB5-AA28-63B8-E559-0478B39A29C0}"/>
                </a:ext>
              </a:extLst>
            </p:cNvPr>
            <p:cNvGrpSpPr/>
            <p:nvPr/>
          </p:nvGrpSpPr>
          <p:grpSpPr>
            <a:xfrm>
              <a:off x="10209114" y="7827242"/>
              <a:ext cx="660322" cy="911472"/>
              <a:chOff x="10905792" y="2045728"/>
              <a:chExt cx="660322" cy="911472"/>
            </a:xfrm>
          </p:grpSpPr>
          <p:pic>
            <p:nvPicPr>
              <p:cNvPr id="408" name="Graphic 407" descr="Single gear with solid fill">
                <a:extLst>
                  <a:ext uri="{FF2B5EF4-FFF2-40B4-BE49-F238E27FC236}">
                    <a16:creationId xmlns:a16="http://schemas.microsoft.com/office/drawing/2014/main" id="{1C00B24D-6D7E-1FAD-B098-78FDE4C126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905792" y="2045728"/>
                <a:ext cx="660322" cy="660322"/>
              </a:xfrm>
              <a:prstGeom prst="rect">
                <a:avLst/>
              </a:prstGeom>
            </p:spPr>
          </p:pic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6437F2E2-7310-1C79-E3C2-C65940AEC500}"/>
                  </a:ext>
                </a:extLst>
              </p:cNvPr>
              <p:cNvSpPr txBox="1"/>
              <p:nvPr/>
            </p:nvSpPr>
            <p:spPr>
              <a:xfrm>
                <a:off x="10970206" y="2649423"/>
                <a:ext cx="5314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SVM</a:t>
                </a:r>
              </a:p>
            </p:txBody>
          </p:sp>
        </p:grpSp>
        <p:pic>
          <p:nvPicPr>
            <p:cNvPr id="400" name="Graphic 399" descr="Line arrow: Counter-clockwise curve with solid fill">
              <a:extLst>
                <a:ext uri="{FF2B5EF4-FFF2-40B4-BE49-F238E27FC236}">
                  <a16:creationId xmlns:a16="http://schemas.microsoft.com/office/drawing/2014/main" id="{D44FB0E7-9347-3213-BA81-6B86DED681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820395" flipH="1" flipV="1">
              <a:off x="9810611" y="7811311"/>
              <a:ext cx="500596" cy="500596"/>
            </a:xfrm>
            <a:prstGeom prst="rect">
              <a:avLst/>
            </a:prstGeom>
          </p:spPr>
        </p:pic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2B02CD8B-94CF-CB76-7C89-31FDD5DCCBB1}"/>
                </a:ext>
              </a:extLst>
            </p:cNvPr>
            <p:cNvGrpSpPr/>
            <p:nvPr/>
          </p:nvGrpSpPr>
          <p:grpSpPr>
            <a:xfrm>
              <a:off x="10298803" y="7009111"/>
              <a:ext cx="1436147" cy="906832"/>
              <a:chOff x="10723415" y="3795143"/>
              <a:chExt cx="1436147" cy="906832"/>
            </a:xfrm>
          </p:grpSpPr>
          <p:pic>
            <p:nvPicPr>
              <p:cNvPr id="406" name="Picture 405">
                <a:extLst>
                  <a:ext uri="{FF2B5EF4-FFF2-40B4-BE49-F238E27FC236}">
                    <a16:creationId xmlns:a16="http://schemas.microsoft.com/office/drawing/2014/main" id="{CF551A22-DDC7-4C66-CBDF-8F027711A2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F8C78B2D-64E0-475E-130A-19CF3088B792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XGBoost</a:t>
                </a:r>
              </a:p>
            </p:txBody>
          </p:sp>
        </p:grp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3669B5AA-5BC2-F729-1853-FC85D832B242}"/>
                </a:ext>
              </a:extLst>
            </p:cNvPr>
            <p:cNvGrpSpPr/>
            <p:nvPr/>
          </p:nvGrpSpPr>
          <p:grpSpPr>
            <a:xfrm>
              <a:off x="11147455" y="7842134"/>
              <a:ext cx="861711" cy="911472"/>
              <a:chOff x="10805097" y="2045728"/>
              <a:chExt cx="861711" cy="911472"/>
            </a:xfrm>
          </p:grpSpPr>
          <p:pic>
            <p:nvPicPr>
              <p:cNvPr id="404" name="Graphic 403" descr="Single gear with solid fill">
                <a:extLst>
                  <a:ext uri="{FF2B5EF4-FFF2-40B4-BE49-F238E27FC236}">
                    <a16:creationId xmlns:a16="http://schemas.microsoft.com/office/drawing/2014/main" id="{4258A2D0-8929-0841-9DD4-D7B91F046C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905792" y="2045728"/>
                <a:ext cx="660322" cy="660322"/>
              </a:xfrm>
              <a:prstGeom prst="rect">
                <a:avLst/>
              </a:prstGeom>
            </p:spPr>
          </p:pic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A88F8488-AFA5-32A7-1ECB-8AB0F491FC62}"/>
                  </a:ext>
                </a:extLst>
              </p:cNvPr>
              <p:cNvSpPr txBox="1"/>
              <p:nvPr/>
            </p:nvSpPr>
            <p:spPr>
              <a:xfrm>
                <a:off x="10805097" y="2649423"/>
                <a:ext cx="8617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XGBoost</a:t>
                </a:r>
              </a:p>
            </p:txBody>
          </p:sp>
        </p:grpSp>
        <p:pic>
          <p:nvPicPr>
            <p:cNvPr id="403" name="Graphic 402" descr="Line arrow: Counter-clockwise curve with solid fill">
              <a:extLst>
                <a:ext uri="{FF2B5EF4-FFF2-40B4-BE49-F238E27FC236}">
                  <a16:creationId xmlns:a16="http://schemas.microsoft.com/office/drawing/2014/main" id="{9A051377-6835-FEE9-815B-4771E7F347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820395" flipH="1" flipV="1">
              <a:off x="10849647" y="7826203"/>
              <a:ext cx="500596" cy="500596"/>
            </a:xfrm>
            <a:prstGeom prst="rect">
              <a:avLst/>
            </a:prstGeom>
          </p:spPr>
        </p:pic>
      </p:grpSp>
      <p:pic>
        <p:nvPicPr>
          <p:cNvPr id="417" name="Graphic 416" descr="Line arrow: Straight with solid fill">
            <a:extLst>
              <a:ext uri="{FF2B5EF4-FFF2-40B4-BE49-F238E27FC236}">
                <a16:creationId xmlns:a16="http://schemas.microsoft.com/office/drawing/2014/main" id="{7CC77F41-3081-4C8E-10B3-6F68DAF68D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3134964" y="1515011"/>
            <a:ext cx="914400" cy="914400"/>
          </a:xfrm>
          <a:prstGeom prst="rect">
            <a:avLst/>
          </a:prstGeom>
        </p:spPr>
      </p:pic>
      <p:pic>
        <p:nvPicPr>
          <p:cNvPr id="418" name="Graphic 417" descr="Line arrow: Straight with solid fill">
            <a:extLst>
              <a:ext uri="{FF2B5EF4-FFF2-40B4-BE49-F238E27FC236}">
                <a16:creationId xmlns:a16="http://schemas.microsoft.com/office/drawing/2014/main" id="{9B4422AA-F5F9-4EEA-4369-49B9EC9CA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6226427" y="1625942"/>
            <a:ext cx="914400" cy="914400"/>
          </a:xfrm>
          <a:prstGeom prst="rect">
            <a:avLst/>
          </a:prstGeom>
        </p:spPr>
      </p:pic>
      <p:pic>
        <p:nvPicPr>
          <p:cNvPr id="419" name="Graphic 418" descr="Line arrow: Straight with solid fill">
            <a:extLst>
              <a:ext uri="{FF2B5EF4-FFF2-40B4-BE49-F238E27FC236}">
                <a16:creationId xmlns:a16="http://schemas.microsoft.com/office/drawing/2014/main" id="{CF622893-B332-E317-D3C4-941EE3614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6174174" y="4690794"/>
            <a:ext cx="620458" cy="914400"/>
          </a:xfrm>
          <a:prstGeom prst="rect">
            <a:avLst/>
          </a:prstGeom>
        </p:spPr>
      </p:pic>
      <p:pic>
        <p:nvPicPr>
          <p:cNvPr id="421" name="Graphic 420" descr="Line arrow: Straight with solid fill">
            <a:extLst>
              <a:ext uri="{FF2B5EF4-FFF2-40B4-BE49-F238E27FC236}">
                <a16:creationId xmlns:a16="http://schemas.microsoft.com/office/drawing/2014/main" id="{7A00BC8D-39DA-A742-8F20-50E418E89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758458">
            <a:off x="5902267" y="3089041"/>
            <a:ext cx="1253564" cy="914400"/>
          </a:xfrm>
          <a:prstGeom prst="rect">
            <a:avLst/>
          </a:prstGeom>
        </p:spPr>
      </p:pic>
      <p:pic>
        <p:nvPicPr>
          <p:cNvPr id="422" name="Graphic 421" descr="Line arrow: Counter-clockwise curve with solid fill">
            <a:extLst>
              <a:ext uri="{FF2B5EF4-FFF2-40B4-BE49-F238E27FC236}">
                <a16:creationId xmlns:a16="http://schemas.microsoft.com/office/drawing/2014/main" id="{86F6E862-5C05-05DD-B6B9-2A0D675CC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230563" flipH="1" flipV="1">
            <a:off x="1456272" y="2651242"/>
            <a:ext cx="876870" cy="876870"/>
          </a:xfrm>
          <a:prstGeom prst="rect">
            <a:avLst/>
          </a:prstGeom>
        </p:spPr>
      </p:pic>
      <p:pic>
        <p:nvPicPr>
          <p:cNvPr id="424" name="Graphic 423" descr="Badge 4 with solid fill">
            <a:extLst>
              <a:ext uri="{FF2B5EF4-FFF2-40B4-BE49-F238E27FC236}">
                <a16:creationId xmlns:a16="http://schemas.microsoft.com/office/drawing/2014/main" id="{A9C7D8BC-522A-B7DA-ABCE-AB9FF0A34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1071" y="3820110"/>
            <a:ext cx="365760" cy="365760"/>
          </a:xfrm>
          <a:prstGeom prst="rect">
            <a:avLst/>
          </a:prstGeom>
        </p:spPr>
      </p:pic>
      <p:pic>
        <p:nvPicPr>
          <p:cNvPr id="426" name="Graphic 425" descr="Badge with solid fill">
            <a:extLst>
              <a:ext uri="{FF2B5EF4-FFF2-40B4-BE49-F238E27FC236}">
                <a16:creationId xmlns:a16="http://schemas.microsoft.com/office/drawing/2014/main" id="{38A03033-0BD5-EE29-B857-5336EA36C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42806" y="850494"/>
            <a:ext cx="365760" cy="365760"/>
          </a:xfrm>
          <a:prstGeom prst="rect">
            <a:avLst/>
          </a:prstGeom>
        </p:spPr>
      </p:pic>
      <p:pic>
        <p:nvPicPr>
          <p:cNvPr id="428" name="Graphic 427" descr="Badge 3 with solid fill">
            <a:extLst>
              <a:ext uri="{FF2B5EF4-FFF2-40B4-BE49-F238E27FC236}">
                <a16:creationId xmlns:a16="http://schemas.microsoft.com/office/drawing/2014/main" id="{D3FA2DDE-1CC5-7A5D-8590-78F4FBFCA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55555" y="872659"/>
            <a:ext cx="365760" cy="365760"/>
          </a:xfrm>
          <a:prstGeom prst="rect">
            <a:avLst/>
          </a:prstGeom>
        </p:spPr>
      </p:pic>
      <p:pic>
        <p:nvPicPr>
          <p:cNvPr id="430" name="Graphic 429" descr="Badge 1 with solid fill">
            <a:extLst>
              <a:ext uri="{FF2B5EF4-FFF2-40B4-BE49-F238E27FC236}">
                <a16:creationId xmlns:a16="http://schemas.microsoft.com/office/drawing/2014/main" id="{CDA997ED-B2E8-4C8E-4EC5-091C8E75A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58554" y="813658"/>
            <a:ext cx="365760" cy="365760"/>
          </a:xfrm>
          <a:prstGeom prst="rect">
            <a:avLst/>
          </a:prstGeom>
        </p:spPr>
      </p:pic>
      <p:pic>
        <p:nvPicPr>
          <p:cNvPr id="432" name="Graphic 431" descr="Badge 5 with solid fill">
            <a:extLst>
              <a:ext uri="{FF2B5EF4-FFF2-40B4-BE49-F238E27FC236}">
                <a16:creationId xmlns:a16="http://schemas.microsoft.com/office/drawing/2014/main" id="{76E2C5BB-07CD-1510-1C14-956002CF5B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62006" y="3833093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6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495DD-1AE3-9E68-D8A0-A4487A38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15BBA4F-DD28-DB77-C95F-0CBDCB099AA6}"/>
              </a:ext>
            </a:extLst>
          </p:cNvPr>
          <p:cNvSpPr/>
          <p:nvPr/>
        </p:nvSpPr>
        <p:spPr>
          <a:xfrm rot="10800000">
            <a:off x="817808" y="624624"/>
            <a:ext cx="9723550" cy="5664494"/>
          </a:xfrm>
          <a:prstGeom prst="round2SameRect">
            <a:avLst>
              <a:gd name="adj1" fmla="val 8411"/>
              <a:gd name="adj2" fmla="val 0"/>
            </a:avLst>
          </a:prstGeom>
          <a:solidFill>
            <a:srgbClr val="ECFFF2"/>
          </a:solidFill>
          <a:ln>
            <a:solidFill>
              <a:srgbClr val="ECFF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F61E3804-629D-9CA7-0FF9-4A621BA65529}"/>
              </a:ext>
            </a:extLst>
          </p:cNvPr>
          <p:cNvSpPr/>
          <p:nvPr/>
        </p:nvSpPr>
        <p:spPr>
          <a:xfrm>
            <a:off x="817809" y="134585"/>
            <a:ext cx="9723550" cy="57375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Sistema de predicción de quiebra de empresas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EAABA6F-12EC-8B82-00D0-3706C0DFD82B}"/>
              </a:ext>
            </a:extLst>
          </p:cNvPr>
          <p:cNvGrpSpPr/>
          <p:nvPr/>
        </p:nvGrpSpPr>
        <p:grpSpPr>
          <a:xfrm>
            <a:off x="88528" y="2355142"/>
            <a:ext cx="1304202" cy="1639079"/>
            <a:chOff x="228780" y="4263453"/>
            <a:chExt cx="1304202" cy="1639079"/>
          </a:xfrm>
        </p:grpSpPr>
        <p:sp>
          <p:nvSpPr>
            <p:cNvPr id="224" name="Flowchart: Alternate Process 223">
              <a:extLst>
                <a:ext uri="{FF2B5EF4-FFF2-40B4-BE49-F238E27FC236}">
                  <a16:creationId xmlns:a16="http://schemas.microsoft.com/office/drawing/2014/main" id="{7BF936AA-CB94-90F8-99EF-E7CEA6482FE5}"/>
                </a:ext>
              </a:extLst>
            </p:cNvPr>
            <p:cNvSpPr/>
            <p:nvPr/>
          </p:nvSpPr>
          <p:spPr>
            <a:xfrm>
              <a:off x="228780" y="4263454"/>
              <a:ext cx="1304200" cy="1639078"/>
            </a:xfrm>
            <a:prstGeom prst="flowChartAlternateProcess">
              <a:avLst/>
            </a:prstGeom>
            <a:solidFill>
              <a:srgbClr val="CFE6D6"/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: Top Corners Rounded 224">
              <a:extLst>
                <a:ext uri="{FF2B5EF4-FFF2-40B4-BE49-F238E27FC236}">
                  <a16:creationId xmlns:a16="http://schemas.microsoft.com/office/drawing/2014/main" id="{5ACCB858-AEE5-6CB8-811B-9AE9397A0CAB}"/>
                </a:ext>
              </a:extLst>
            </p:cNvPr>
            <p:cNvSpPr/>
            <p:nvPr/>
          </p:nvSpPr>
          <p:spPr>
            <a:xfrm>
              <a:off x="228782" y="426345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Origen de datos</a:t>
              </a:r>
            </a:p>
          </p:txBody>
        </p:sp>
        <p:pic>
          <p:nvPicPr>
            <p:cNvPr id="227" name="Graphic 226" descr="Database with solid fill">
              <a:extLst>
                <a:ext uri="{FF2B5EF4-FFF2-40B4-BE49-F238E27FC236}">
                  <a16:creationId xmlns:a16="http://schemas.microsoft.com/office/drawing/2014/main" id="{2A387D3C-B011-2F85-DEBC-4140B766AB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3680" y="4846818"/>
              <a:ext cx="914400" cy="914400"/>
            </a:xfrm>
            <a:prstGeom prst="rect">
              <a:avLst/>
            </a:prstGeom>
          </p:spPr>
        </p:pic>
      </p:grpSp>
      <p:pic>
        <p:nvPicPr>
          <p:cNvPr id="45" name="Graphic 44" descr="Clipboard with solid fill">
            <a:extLst>
              <a:ext uri="{FF2B5EF4-FFF2-40B4-BE49-F238E27FC236}">
                <a16:creationId xmlns:a16="http://schemas.microsoft.com/office/drawing/2014/main" id="{855B51F9-B4BF-691F-B702-604595ACB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4708" y="1132457"/>
            <a:ext cx="914400" cy="914400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8E2FD940-7289-0108-79B2-6525E29E7B70}"/>
              </a:ext>
            </a:extLst>
          </p:cNvPr>
          <p:cNvGrpSpPr/>
          <p:nvPr/>
        </p:nvGrpSpPr>
        <p:grpSpPr>
          <a:xfrm>
            <a:off x="10744708" y="4527877"/>
            <a:ext cx="1213219" cy="1122275"/>
            <a:chOff x="10817191" y="3795143"/>
            <a:chExt cx="1213219" cy="112227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7F9227F-BFFC-5EFC-C638-6E7A2F77D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8B2C727-7BFC-9D79-EA76-F2192C938626}"/>
                </a:ext>
              </a:extLst>
            </p:cNvPr>
            <p:cNvSpPr txBox="1"/>
            <p:nvPr/>
          </p:nvSpPr>
          <p:spPr>
            <a:xfrm>
              <a:off x="10817191" y="4394198"/>
              <a:ext cx="12132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Análisis Exploratorio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D8F2D94-B69C-AC6D-8D08-2A9E234DF3D3}"/>
              </a:ext>
            </a:extLst>
          </p:cNvPr>
          <p:cNvGrpSpPr/>
          <p:nvPr/>
        </p:nvGrpSpPr>
        <p:grpSpPr>
          <a:xfrm>
            <a:off x="1077003" y="597369"/>
            <a:ext cx="2051761" cy="2110686"/>
            <a:chOff x="1804605" y="2241282"/>
            <a:chExt cx="2181062" cy="210037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9473614-015B-4D37-550D-632DC37B8D69}"/>
                </a:ext>
              </a:extLst>
            </p:cNvPr>
            <p:cNvSpPr/>
            <p:nvPr/>
          </p:nvSpPr>
          <p:spPr>
            <a:xfrm>
              <a:off x="2192005" y="2628680"/>
              <a:ext cx="1793662" cy="1712975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1" name="Graphic 40" descr="Folder with solid fill">
              <a:extLst>
                <a:ext uri="{FF2B5EF4-FFF2-40B4-BE49-F238E27FC236}">
                  <a16:creationId xmlns:a16="http://schemas.microsoft.com/office/drawing/2014/main" id="{34854E47-AB82-9130-7ED9-DE8678B405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04605" y="2241282"/>
              <a:ext cx="774796" cy="774796"/>
            </a:xfrm>
            <a:prstGeom prst="rect">
              <a:avLst/>
            </a:prstGeom>
          </p:spPr>
        </p:pic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E756BE64-814C-3F2E-775A-DCBF725CAA57}"/>
                </a:ext>
              </a:extLst>
            </p:cNvPr>
            <p:cNvGrpSpPr/>
            <p:nvPr/>
          </p:nvGrpSpPr>
          <p:grpSpPr>
            <a:xfrm>
              <a:off x="2482226" y="3094997"/>
              <a:ext cx="1213219" cy="1122275"/>
              <a:chOff x="10817191" y="3795143"/>
              <a:chExt cx="1213219" cy="1122275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3E8B3196-10E8-3B2A-158A-39697428E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67DBC29-C65F-57D1-5817-659D0059B869}"/>
                  </a:ext>
                </a:extLst>
              </p:cNvPr>
              <p:cNvSpPr txBox="1"/>
              <p:nvPr/>
            </p:nvSpPr>
            <p:spPr>
              <a:xfrm>
                <a:off x="10817191" y="4394198"/>
                <a:ext cx="12132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Análisis Exploratorio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0A3D6E6-8630-4157-9070-274A34ED40CE}"/>
                </a:ext>
              </a:extLst>
            </p:cNvPr>
            <p:cNvSpPr txBox="1"/>
            <p:nvPr/>
          </p:nvSpPr>
          <p:spPr>
            <a:xfrm>
              <a:off x="2192005" y="2642876"/>
              <a:ext cx="1793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Análisis Exploratorio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CB6728D-FA23-0B49-606B-CAB34D7D14AD}"/>
              </a:ext>
            </a:extLst>
          </p:cNvPr>
          <p:cNvGrpSpPr/>
          <p:nvPr/>
        </p:nvGrpSpPr>
        <p:grpSpPr>
          <a:xfrm>
            <a:off x="10728121" y="3202641"/>
            <a:ext cx="1180451" cy="791580"/>
            <a:chOff x="10728121" y="3202641"/>
            <a:chExt cx="1180451" cy="791580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4C3F16B-6B4C-81ED-34E7-A3F968DB0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11075738" y="3202641"/>
              <a:ext cx="494517" cy="467018"/>
            </a:xfrm>
            <a:prstGeom prst="rect">
              <a:avLst/>
            </a:prstGeom>
          </p:spPr>
        </p:pic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73DF136-B159-A8E9-0CDB-14A85E590766}"/>
                </a:ext>
              </a:extLst>
            </p:cNvPr>
            <p:cNvSpPr txBox="1"/>
            <p:nvPr/>
          </p:nvSpPr>
          <p:spPr>
            <a:xfrm>
              <a:off x="10728121" y="3686444"/>
              <a:ext cx="11804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Train dataset</a:t>
              </a:r>
            </a:p>
          </p:txBody>
        </p:sp>
      </p:grpSp>
      <p:pic>
        <p:nvPicPr>
          <p:cNvPr id="132" name="Graphic 131" descr="Line arrow: Clockwise curve with solid fill">
            <a:extLst>
              <a:ext uri="{FF2B5EF4-FFF2-40B4-BE49-F238E27FC236}">
                <a16:creationId xmlns:a16="http://schemas.microsoft.com/office/drawing/2014/main" id="{6ADF9A81-1BF8-D167-541F-BD9B14AE2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57655" y="6314869"/>
            <a:ext cx="914400" cy="914400"/>
          </a:xfrm>
          <a:prstGeom prst="rect">
            <a:avLst/>
          </a:prstGeom>
        </p:spPr>
      </p:pic>
      <p:pic>
        <p:nvPicPr>
          <p:cNvPr id="136" name="Graphic 135" descr="Line arrow: Counter-clockwise curve with solid fill">
            <a:extLst>
              <a:ext uri="{FF2B5EF4-FFF2-40B4-BE49-F238E27FC236}">
                <a16:creationId xmlns:a16="http://schemas.microsoft.com/office/drawing/2014/main" id="{F3758C60-FD9D-5D4B-5D28-F3C0861CC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950214" y="7474878"/>
            <a:ext cx="914400" cy="914400"/>
          </a:xfrm>
          <a:prstGeom prst="rect">
            <a:avLst/>
          </a:prstGeom>
        </p:spPr>
      </p:pic>
      <p:pic>
        <p:nvPicPr>
          <p:cNvPr id="138" name="Graphic 137" descr="Fork In Road with solid fill">
            <a:extLst>
              <a:ext uri="{FF2B5EF4-FFF2-40B4-BE49-F238E27FC236}">
                <a16:creationId xmlns:a16="http://schemas.microsoft.com/office/drawing/2014/main" id="{E93ADF8B-F154-AF22-5B63-070B1F0DD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1055" y="6489300"/>
            <a:ext cx="914400" cy="914400"/>
          </a:xfrm>
          <a:prstGeom prst="rect">
            <a:avLst/>
          </a:prstGeom>
        </p:spPr>
      </p:pic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B90859F-1BDC-F7E1-3700-4708A2A2F1F3}"/>
              </a:ext>
            </a:extLst>
          </p:cNvPr>
          <p:cNvGrpSpPr/>
          <p:nvPr/>
        </p:nvGrpSpPr>
        <p:grpSpPr>
          <a:xfrm>
            <a:off x="3109071" y="608525"/>
            <a:ext cx="2526636" cy="2606815"/>
            <a:chOff x="7109520" y="3113025"/>
            <a:chExt cx="3025662" cy="2945748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6748803-9DAA-3813-92A3-49E43F989240}"/>
                </a:ext>
              </a:extLst>
            </p:cNvPr>
            <p:cNvSpPr/>
            <p:nvPr/>
          </p:nvSpPr>
          <p:spPr>
            <a:xfrm>
              <a:off x="7496920" y="3500423"/>
              <a:ext cx="2638262" cy="2558350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1" name="Graphic 110" descr="Folder with solid fill">
              <a:extLst>
                <a:ext uri="{FF2B5EF4-FFF2-40B4-BE49-F238E27FC236}">
                  <a16:creationId xmlns:a16="http://schemas.microsoft.com/office/drawing/2014/main" id="{94F6B762-0F6A-D254-B15B-758806431E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09520" y="3113025"/>
              <a:ext cx="774796" cy="774796"/>
            </a:xfrm>
            <a:prstGeom prst="rect">
              <a:avLst/>
            </a:prstGeom>
          </p:spPr>
        </p:pic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02F869DB-CD99-E916-4BC5-E4B5A2326EC3}"/>
                </a:ext>
              </a:extLst>
            </p:cNvPr>
            <p:cNvGrpSpPr/>
            <p:nvPr/>
          </p:nvGrpSpPr>
          <p:grpSpPr>
            <a:xfrm>
              <a:off x="8209441" y="3937417"/>
              <a:ext cx="1213219" cy="1122275"/>
              <a:chOff x="10817191" y="3795143"/>
              <a:chExt cx="1213219" cy="1122275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2C112FE-14A8-01EF-409D-2FC40AB4C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9A82E1B-893B-A7B8-2564-3DF9F08650C1}"/>
                  </a:ext>
                </a:extLst>
              </p:cNvPr>
              <p:cNvSpPr txBox="1"/>
              <p:nvPr/>
            </p:nvSpPr>
            <p:spPr>
              <a:xfrm>
                <a:off x="10817191" y="4394198"/>
                <a:ext cx="12132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Split Notebook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3445BBE-118D-E9B7-2D49-921B094BBE97}"/>
                </a:ext>
              </a:extLst>
            </p:cNvPr>
            <p:cNvSpPr txBox="1"/>
            <p:nvPr/>
          </p:nvSpPr>
          <p:spPr>
            <a:xfrm>
              <a:off x="7496920" y="3514619"/>
              <a:ext cx="26382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Split en train y test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952BF44-A8E7-E889-D70B-65EC05442D7D}"/>
                </a:ext>
              </a:extLst>
            </p:cNvPr>
            <p:cNvGrpSpPr/>
            <p:nvPr/>
          </p:nvGrpSpPr>
          <p:grpSpPr>
            <a:xfrm>
              <a:off x="7519721" y="5189768"/>
              <a:ext cx="1180451" cy="791580"/>
              <a:chOff x="10728121" y="3202641"/>
              <a:chExt cx="1180451" cy="791580"/>
            </a:xfrm>
          </p:grpSpPr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1ED74235-8D0A-64CD-9E7D-8AC5E3F6F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BB9357E-94C4-C165-2C2F-C618308F1C32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80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Train dataset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7B4F76C7-1E6A-A485-BEE4-A4D5012A4662}"/>
                </a:ext>
              </a:extLst>
            </p:cNvPr>
            <p:cNvGrpSpPr/>
            <p:nvPr/>
          </p:nvGrpSpPr>
          <p:grpSpPr>
            <a:xfrm>
              <a:off x="8896235" y="5204824"/>
              <a:ext cx="1119153" cy="791580"/>
              <a:chOff x="10728121" y="3202641"/>
              <a:chExt cx="1119153" cy="791580"/>
            </a:xfrm>
          </p:grpSpPr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9988FB2D-220F-388F-917E-DB50B89CF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3FB3994-ABB9-8C8C-1D4F-FE9AEAD8FD1B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dataset</a:t>
                </a:r>
              </a:p>
            </p:txBody>
          </p:sp>
        </p:grpSp>
        <p:pic>
          <p:nvPicPr>
            <p:cNvPr id="139" name="Graphic 138" descr="Fork In Road with solid fill">
              <a:extLst>
                <a:ext uri="{FF2B5EF4-FFF2-40B4-BE49-F238E27FC236}">
                  <a16:creationId xmlns:a16="http://schemas.microsoft.com/office/drawing/2014/main" id="{D958E8C5-EAE9-469E-848C-748D0823F2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8501201" y="5009995"/>
              <a:ext cx="629697" cy="629697"/>
            </a:xfrm>
            <a:prstGeom prst="rect">
              <a:avLst/>
            </a:prstGeom>
          </p:spPr>
        </p:pic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1E2E980-CF79-A52C-CBFB-68D484222BB9}"/>
              </a:ext>
            </a:extLst>
          </p:cNvPr>
          <p:cNvSpPr/>
          <p:nvPr/>
        </p:nvSpPr>
        <p:spPr>
          <a:xfrm>
            <a:off x="7993810" y="6551100"/>
            <a:ext cx="4175937" cy="2359328"/>
          </a:xfrm>
          <a:prstGeom prst="rect">
            <a:avLst/>
          </a:prstGeom>
          <a:solidFill>
            <a:srgbClr val="ECFFF2"/>
          </a:solidFill>
          <a:ln>
            <a:solidFill>
              <a:srgbClr val="0046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2" name="Graphic 161" descr="Folder with solid fill">
            <a:extLst>
              <a:ext uri="{FF2B5EF4-FFF2-40B4-BE49-F238E27FC236}">
                <a16:creationId xmlns:a16="http://schemas.microsoft.com/office/drawing/2014/main" id="{287E6D76-924E-FC03-7FB1-F020AC0AC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2725" y="6249207"/>
            <a:ext cx="774796" cy="774796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40ED2784-FE44-0FF0-1341-538AAB191B6E}"/>
              </a:ext>
            </a:extLst>
          </p:cNvPr>
          <p:cNvSpPr txBox="1"/>
          <p:nvPr/>
        </p:nvSpPr>
        <p:spPr>
          <a:xfrm>
            <a:off x="7972941" y="6553375"/>
            <a:ext cx="417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Optimización de hiperparámetros y</a:t>
            </a:r>
          </a:p>
          <a:p>
            <a:pPr algn="ctr"/>
            <a:r>
              <a:rPr lang="en-US" sz="1400" b="1" dirty="0"/>
              <a:t>Entrenamiento de modelos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0F187BE-28D3-C50B-DBF3-36EAE46FE134}"/>
              </a:ext>
            </a:extLst>
          </p:cNvPr>
          <p:cNvGrpSpPr/>
          <p:nvPr/>
        </p:nvGrpSpPr>
        <p:grpSpPr>
          <a:xfrm>
            <a:off x="7899750" y="6976863"/>
            <a:ext cx="1436147" cy="1122275"/>
            <a:chOff x="10723415" y="3795143"/>
            <a:chExt cx="1436147" cy="1122275"/>
          </a:xfrm>
        </p:grpSpPr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FC53F519-0093-5AFE-E897-3E1CAA288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7F48C3C8-7FD3-9F33-377F-C41C3DCFA338}"/>
                </a:ext>
              </a:extLst>
            </p:cNvPr>
            <p:cNvSpPr txBox="1"/>
            <p:nvPr/>
          </p:nvSpPr>
          <p:spPr>
            <a:xfrm>
              <a:off x="10723415" y="4394198"/>
              <a:ext cx="14361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Logistic</a:t>
              </a:r>
            </a:p>
            <a:p>
              <a:pPr algn="ctr"/>
              <a:r>
                <a:rPr lang="en-US" sz="1400" dirty="0"/>
                <a:t>Regression</a:t>
              </a:r>
            </a:p>
          </p:txBody>
        </p:sp>
      </p:grpSp>
      <p:pic>
        <p:nvPicPr>
          <p:cNvPr id="236" name="Graphic 235" descr="Line arrow: Straight with solid fill">
            <a:extLst>
              <a:ext uri="{FF2B5EF4-FFF2-40B4-BE49-F238E27FC236}">
                <a16:creationId xmlns:a16="http://schemas.microsoft.com/office/drawing/2014/main" id="{74A4A7B2-75D4-8073-3EFA-370D22273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367" y="7196827"/>
            <a:ext cx="914400" cy="914400"/>
          </a:xfrm>
          <a:prstGeom prst="rect">
            <a:avLst/>
          </a:prstGeom>
        </p:spPr>
      </p:pic>
      <p:grpSp>
        <p:nvGrpSpPr>
          <p:cNvPr id="301" name="Group 300">
            <a:extLst>
              <a:ext uri="{FF2B5EF4-FFF2-40B4-BE49-F238E27FC236}">
                <a16:creationId xmlns:a16="http://schemas.microsoft.com/office/drawing/2014/main" id="{CE8CB299-22AC-AA5C-DC87-E086818FD605}"/>
              </a:ext>
            </a:extLst>
          </p:cNvPr>
          <p:cNvGrpSpPr/>
          <p:nvPr/>
        </p:nvGrpSpPr>
        <p:grpSpPr>
          <a:xfrm>
            <a:off x="5613665" y="624624"/>
            <a:ext cx="4279063" cy="2746727"/>
            <a:chOff x="6696691" y="6187869"/>
            <a:chExt cx="4279063" cy="2746727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ABB8868D-CE26-68D0-F9BD-7DF72CE1C1B2}"/>
                </a:ext>
              </a:extLst>
            </p:cNvPr>
            <p:cNvSpPr/>
            <p:nvPr/>
          </p:nvSpPr>
          <p:spPr>
            <a:xfrm>
              <a:off x="7071978" y="6575268"/>
              <a:ext cx="3891662" cy="235932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3" name="Graphic 302" descr="Folder with solid fill">
              <a:extLst>
                <a:ext uri="{FF2B5EF4-FFF2-40B4-BE49-F238E27FC236}">
                  <a16:creationId xmlns:a16="http://schemas.microsoft.com/office/drawing/2014/main" id="{D20880A7-04E5-9C56-71E1-78152588A9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96691" y="6187869"/>
              <a:ext cx="774796" cy="774796"/>
            </a:xfrm>
            <a:prstGeom prst="rect">
              <a:avLst/>
            </a:prstGeom>
          </p:spPr>
        </p:pic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DEA26395-6EB7-9AD4-1804-23AA8F8B5C90}"/>
                </a:ext>
              </a:extLst>
            </p:cNvPr>
            <p:cNvSpPr txBox="1"/>
            <p:nvPr/>
          </p:nvSpPr>
          <p:spPr>
            <a:xfrm>
              <a:off x="7084092" y="6589463"/>
              <a:ext cx="3891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Procesamiento de nulos y outliers</a:t>
              </a: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609A5F6E-9EA5-2257-3F23-E6BA99352123}"/>
                </a:ext>
              </a:extLst>
            </p:cNvPr>
            <p:cNvGrpSpPr/>
            <p:nvPr/>
          </p:nvGrpSpPr>
          <p:grpSpPr>
            <a:xfrm>
              <a:off x="6973716" y="6915525"/>
              <a:ext cx="1436147" cy="1122275"/>
              <a:chOff x="10723415" y="3795143"/>
              <a:chExt cx="1436147" cy="1122275"/>
            </a:xfrm>
          </p:grpSpPr>
          <p:pic>
            <p:nvPicPr>
              <p:cNvPr id="318" name="Picture 317">
                <a:extLst>
                  <a:ext uri="{FF2B5EF4-FFF2-40B4-BE49-F238E27FC236}">
                    <a16:creationId xmlns:a16="http://schemas.microsoft.com/office/drawing/2014/main" id="{21D2034F-388C-F1FC-5984-0086A53AC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14A3F687-B6C7-D27B-25BE-790A3F4B3BD8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Procesamiento de nulos</a:t>
                </a:r>
              </a:p>
            </p:txBody>
          </p:sp>
        </p:grpSp>
        <p:pic>
          <p:nvPicPr>
            <p:cNvPr id="306" name="Graphic 305" descr="Line arrow: Counter-clockwise curve with solid fill">
              <a:extLst>
                <a:ext uri="{FF2B5EF4-FFF2-40B4-BE49-F238E27FC236}">
                  <a16:creationId xmlns:a16="http://schemas.microsoft.com/office/drawing/2014/main" id="{F5CE3404-1711-1791-A92A-873138B7FD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6574736" flipH="1">
              <a:off x="7889779" y="6960726"/>
              <a:ext cx="914400" cy="914400"/>
            </a:xfrm>
            <a:prstGeom prst="rect">
              <a:avLst/>
            </a:prstGeom>
          </p:spPr>
        </p:pic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42BCD168-C3E4-B5FF-356C-D10D73E1D900}"/>
                </a:ext>
              </a:extLst>
            </p:cNvPr>
            <p:cNvGrpSpPr/>
            <p:nvPr/>
          </p:nvGrpSpPr>
          <p:grpSpPr>
            <a:xfrm>
              <a:off x="7921953" y="7674273"/>
              <a:ext cx="1436147" cy="1122275"/>
              <a:chOff x="10723415" y="3795143"/>
              <a:chExt cx="1436147" cy="1122275"/>
            </a:xfrm>
          </p:grpSpPr>
          <p:pic>
            <p:nvPicPr>
              <p:cNvPr id="316" name="Picture 315">
                <a:extLst>
                  <a:ext uri="{FF2B5EF4-FFF2-40B4-BE49-F238E27FC236}">
                    <a16:creationId xmlns:a16="http://schemas.microsoft.com/office/drawing/2014/main" id="{AE3990B9-B251-9759-48A8-3C9AEF457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B1B024C7-02C2-EB84-97A5-63C6DDC6E615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Procesamiento de outliers</a:t>
                </a:r>
              </a:p>
            </p:txBody>
          </p: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4BC650E0-982C-FDA9-A4B9-47CC053DA283}"/>
                </a:ext>
              </a:extLst>
            </p:cNvPr>
            <p:cNvGrpSpPr/>
            <p:nvPr/>
          </p:nvGrpSpPr>
          <p:grpSpPr>
            <a:xfrm>
              <a:off x="9783189" y="7214952"/>
              <a:ext cx="1180451" cy="791580"/>
              <a:chOff x="10728121" y="3202641"/>
              <a:chExt cx="1180451" cy="791580"/>
            </a:xfrm>
          </p:grpSpPr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88673C95-EFC4-4072-801A-165A6A118B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AE84BCB6-8C68-D180-0D5E-29D166D64349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80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Train dataset</a:t>
                </a:r>
              </a:p>
            </p:txBody>
          </p: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96AA8788-146D-25CA-6570-BA4CA6D1B25D}"/>
                </a:ext>
              </a:extLst>
            </p:cNvPr>
            <p:cNvGrpSpPr/>
            <p:nvPr/>
          </p:nvGrpSpPr>
          <p:grpSpPr>
            <a:xfrm>
              <a:off x="9813837" y="8088919"/>
              <a:ext cx="1119153" cy="791580"/>
              <a:chOff x="10728121" y="3202641"/>
              <a:chExt cx="1119153" cy="791580"/>
            </a:xfrm>
          </p:grpSpPr>
          <p:pic>
            <p:nvPicPr>
              <p:cNvPr id="312" name="Picture 311">
                <a:extLst>
                  <a:ext uri="{FF2B5EF4-FFF2-40B4-BE49-F238E27FC236}">
                    <a16:creationId xmlns:a16="http://schemas.microsoft.com/office/drawing/2014/main" id="{8FAA04F2-6D74-C394-0FB0-4C42E6774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4259FE8F-138A-A3BA-0A6E-E747B9F96BD8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dataset</a:t>
                </a:r>
              </a:p>
            </p:txBody>
          </p:sp>
        </p:grpSp>
        <p:pic>
          <p:nvPicPr>
            <p:cNvPr id="310" name="Graphic 309" descr="Line arrow: Straight with solid fill">
              <a:extLst>
                <a:ext uri="{FF2B5EF4-FFF2-40B4-BE49-F238E27FC236}">
                  <a16:creationId xmlns:a16="http://schemas.microsoft.com/office/drawing/2014/main" id="{93EB209D-E631-4C13-6107-E154BF2771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9344538">
              <a:off x="8908881" y="7338643"/>
              <a:ext cx="914400" cy="914400"/>
            </a:xfrm>
            <a:prstGeom prst="rect">
              <a:avLst/>
            </a:prstGeom>
          </p:spPr>
        </p:pic>
        <p:pic>
          <p:nvPicPr>
            <p:cNvPr id="311" name="Graphic 310" descr="Line arrow: Straight with solid fill">
              <a:extLst>
                <a:ext uri="{FF2B5EF4-FFF2-40B4-BE49-F238E27FC236}">
                  <a16:creationId xmlns:a16="http://schemas.microsoft.com/office/drawing/2014/main" id="{9510D71E-3B84-B4F5-C0B9-215832F998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2277827">
              <a:off x="8896136" y="7667617"/>
              <a:ext cx="914400" cy="914400"/>
            </a:xfrm>
            <a:prstGeom prst="rect">
              <a:avLst/>
            </a:prstGeom>
          </p:spPr>
        </p:pic>
      </p:grpSp>
      <p:pic>
        <p:nvPicPr>
          <p:cNvPr id="320" name="Graphic 319" descr="Line arrow: Counter-clockwise curve with solid fill">
            <a:extLst>
              <a:ext uri="{FF2B5EF4-FFF2-40B4-BE49-F238E27FC236}">
                <a16:creationId xmlns:a16="http://schemas.microsoft.com/office/drawing/2014/main" id="{C2FB8C9C-864E-8773-8677-1DDA2317C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619256" flipH="1" flipV="1">
            <a:off x="821067" y="7657041"/>
            <a:ext cx="876870" cy="876870"/>
          </a:xfrm>
          <a:prstGeom prst="rect">
            <a:avLst/>
          </a:prstGeom>
        </p:spPr>
      </p:pic>
      <p:pic>
        <p:nvPicPr>
          <p:cNvPr id="321" name="Graphic 320" descr="Line arrow: Counter-clockwise curve with solid fill">
            <a:extLst>
              <a:ext uri="{FF2B5EF4-FFF2-40B4-BE49-F238E27FC236}">
                <a16:creationId xmlns:a16="http://schemas.microsoft.com/office/drawing/2014/main" id="{F1AAEE75-8DF9-5DE3-9FF7-9C201B35B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883894" flipH="1">
            <a:off x="1809137" y="6892508"/>
            <a:ext cx="914400" cy="914400"/>
          </a:xfrm>
          <a:prstGeom prst="rect">
            <a:avLst/>
          </a:prstGeom>
        </p:spPr>
      </p:pic>
      <p:grpSp>
        <p:nvGrpSpPr>
          <p:cNvPr id="328" name="Group 327">
            <a:extLst>
              <a:ext uri="{FF2B5EF4-FFF2-40B4-BE49-F238E27FC236}">
                <a16:creationId xmlns:a16="http://schemas.microsoft.com/office/drawing/2014/main" id="{E59443EF-75F1-CEE5-9C73-3DFDDC7C569F}"/>
              </a:ext>
            </a:extLst>
          </p:cNvPr>
          <p:cNvGrpSpPr/>
          <p:nvPr/>
        </p:nvGrpSpPr>
        <p:grpSpPr>
          <a:xfrm>
            <a:off x="1401178" y="3261370"/>
            <a:ext cx="4569275" cy="2766612"/>
            <a:chOff x="6696691" y="6187869"/>
            <a:chExt cx="4569275" cy="2766612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B92129B5-CB96-6499-38A4-F441A65436E8}"/>
                </a:ext>
              </a:extLst>
            </p:cNvPr>
            <p:cNvSpPr/>
            <p:nvPr/>
          </p:nvSpPr>
          <p:spPr>
            <a:xfrm>
              <a:off x="7090029" y="6595153"/>
              <a:ext cx="4175937" cy="235932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0" name="Graphic 329" descr="Folder with solid fill">
              <a:extLst>
                <a:ext uri="{FF2B5EF4-FFF2-40B4-BE49-F238E27FC236}">
                  <a16:creationId xmlns:a16="http://schemas.microsoft.com/office/drawing/2014/main" id="{E638E118-4374-174C-1DAC-1AF5155B3B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96691" y="6187869"/>
              <a:ext cx="774796" cy="774796"/>
            </a:xfrm>
            <a:prstGeom prst="rect">
              <a:avLst/>
            </a:prstGeom>
          </p:spPr>
        </p:pic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C51F9886-95E8-7ABC-0487-DD7011C9BEA6}"/>
                </a:ext>
              </a:extLst>
            </p:cNvPr>
            <p:cNvSpPr txBox="1"/>
            <p:nvPr/>
          </p:nvSpPr>
          <p:spPr>
            <a:xfrm>
              <a:off x="7084092" y="6589463"/>
              <a:ext cx="41759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Feature Engineering</a:t>
              </a: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95A60BBB-8C90-8CC8-36A0-3388A520B08C}"/>
                </a:ext>
              </a:extLst>
            </p:cNvPr>
            <p:cNvGrpSpPr/>
            <p:nvPr/>
          </p:nvGrpSpPr>
          <p:grpSpPr>
            <a:xfrm>
              <a:off x="6973716" y="6915525"/>
              <a:ext cx="1436147" cy="906832"/>
              <a:chOff x="10723415" y="3795143"/>
              <a:chExt cx="1436147" cy="906832"/>
            </a:xfrm>
          </p:grpSpPr>
          <p:pic>
            <p:nvPicPr>
              <p:cNvPr id="349" name="Picture 348">
                <a:extLst>
                  <a:ext uri="{FF2B5EF4-FFF2-40B4-BE49-F238E27FC236}">
                    <a16:creationId xmlns:a16="http://schemas.microsoft.com/office/drawing/2014/main" id="{DF488BAB-3B7F-DC5D-9628-AC455CB28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0F9BD4BF-AB12-ACDE-4356-A87B1D1AB524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Escalado</a:t>
                </a:r>
              </a:p>
            </p:txBody>
          </p:sp>
        </p:grpSp>
        <p:pic>
          <p:nvPicPr>
            <p:cNvPr id="333" name="Graphic 332" descr="Line arrow: Counter-clockwise curve with solid fill">
              <a:extLst>
                <a:ext uri="{FF2B5EF4-FFF2-40B4-BE49-F238E27FC236}">
                  <a16:creationId xmlns:a16="http://schemas.microsoft.com/office/drawing/2014/main" id="{C335A0AB-ED26-CC25-3894-18BEBF08E4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21116648" flipH="1" flipV="1">
              <a:off x="6943060" y="7790043"/>
              <a:ext cx="876870" cy="876870"/>
            </a:xfrm>
            <a:prstGeom prst="rect">
              <a:avLst/>
            </a:prstGeom>
          </p:spPr>
        </p:pic>
        <p:grpSp>
          <p:nvGrpSpPr>
            <p:cNvPr id="334" name="Group 333">
              <a:extLst>
                <a:ext uri="{FF2B5EF4-FFF2-40B4-BE49-F238E27FC236}">
                  <a16:creationId xmlns:a16="http://schemas.microsoft.com/office/drawing/2014/main" id="{F567F9F0-0232-B4E4-3B5C-312A00F105D3}"/>
                </a:ext>
              </a:extLst>
            </p:cNvPr>
            <p:cNvGrpSpPr/>
            <p:nvPr/>
          </p:nvGrpSpPr>
          <p:grpSpPr>
            <a:xfrm>
              <a:off x="7416872" y="7899504"/>
              <a:ext cx="1436147" cy="906832"/>
              <a:chOff x="10723415" y="3795143"/>
              <a:chExt cx="1436147" cy="906832"/>
            </a:xfrm>
          </p:grpSpPr>
          <p:pic>
            <p:nvPicPr>
              <p:cNvPr id="347" name="Picture 346">
                <a:extLst>
                  <a:ext uri="{FF2B5EF4-FFF2-40B4-BE49-F238E27FC236}">
                    <a16:creationId xmlns:a16="http://schemas.microsoft.com/office/drawing/2014/main" id="{53508A5C-D707-7C84-859A-5EBE7E0A8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5407D443-72DF-E8D4-8726-BF7322E4BB89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Balanceo</a:t>
                </a: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DF60AD2B-BF8B-78B6-7BC1-A00B884593AC}"/>
                </a:ext>
              </a:extLst>
            </p:cNvPr>
            <p:cNvGrpSpPr/>
            <p:nvPr/>
          </p:nvGrpSpPr>
          <p:grpSpPr>
            <a:xfrm>
              <a:off x="10023505" y="7062113"/>
              <a:ext cx="1180451" cy="791580"/>
              <a:chOff x="10728121" y="3202641"/>
              <a:chExt cx="1180451" cy="791580"/>
            </a:xfrm>
          </p:grpSpPr>
          <p:pic>
            <p:nvPicPr>
              <p:cNvPr id="345" name="Picture 344">
                <a:extLst>
                  <a:ext uri="{FF2B5EF4-FFF2-40B4-BE49-F238E27FC236}">
                    <a16:creationId xmlns:a16="http://schemas.microsoft.com/office/drawing/2014/main" id="{C51713D6-FF48-3D0F-20C8-6B3C9CA94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0284ADD-AC12-2C32-7784-CE2E375D85BF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80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Train dataset</a:t>
                </a:r>
              </a:p>
            </p:txBody>
          </p:sp>
        </p:grp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C7A1D905-9141-6E9B-0B73-0E3A64434A6E}"/>
                </a:ext>
              </a:extLst>
            </p:cNvPr>
            <p:cNvGrpSpPr/>
            <p:nvPr/>
          </p:nvGrpSpPr>
          <p:grpSpPr>
            <a:xfrm>
              <a:off x="10054153" y="7936080"/>
              <a:ext cx="1119153" cy="791580"/>
              <a:chOff x="10728121" y="3202641"/>
              <a:chExt cx="1119153" cy="791580"/>
            </a:xfrm>
          </p:grpSpPr>
          <p:pic>
            <p:nvPicPr>
              <p:cNvPr id="343" name="Picture 342">
                <a:extLst>
                  <a:ext uri="{FF2B5EF4-FFF2-40B4-BE49-F238E27FC236}">
                    <a16:creationId xmlns:a16="http://schemas.microsoft.com/office/drawing/2014/main" id="{BCD62E7C-C08D-9A6D-00D6-64E8FB059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11075738" y="3202641"/>
                <a:ext cx="494517" cy="467018"/>
              </a:xfrm>
              <a:prstGeom prst="rect">
                <a:avLst/>
              </a:prstGeom>
            </p:spPr>
          </p:pic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BEC3D29A-D06A-B23F-2B35-417355E0669B}"/>
                  </a:ext>
                </a:extLst>
              </p:cNvPr>
              <p:cNvSpPr txBox="1"/>
              <p:nvPr/>
            </p:nvSpPr>
            <p:spPr>
              <a:xfrm>
                <a:off x="10728121" y="3686444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dataset</a:t>
                </a:r>
              </a:p>
            </p:txBody>
          </p:sp>
        </p:grpSp>
        <p:pic>
          <p:nvPicPr>
            <p:cNvPr id="337" name="Graphic 336" descr="Line arrow: Straight with solid fill">
              <a:extLst>
                <a:ext uri="{FF2B5EF4-FFF2-40B4-BE49-F238E27FC236}">
                  <a16:creationId xmlns:a16="http://schemas.microsoft.com/office/drawing/2014/main" id="{999C0016-553D-99EA-5D76-74AB36B4AB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9344538">
              <a:off x="9389177" y="7095243"/>
              <a:ext cx="914400" cy="914400"/>
            </a:xfrm>
            <a:prstGeom prst="rect">
              <a:avLst/>
            </a:prstGeom>
          </p:spPr>
        </p:pic>
        <p:pic>
          <p:nvPicPr>
            <p:cNvPr id="338" name="Graphic 337" descr="Line arrow: Straight with solid fill">
              <a:extLst>
                <a:ext uri="{FF2B5EF4-FFF2-40B4-BE49-F238E27FC236}">
                  <a16:creationId xmlns:a16="http://schemas.microsoft.com/office/drawing/2014/main" id="{0DB6EED4-88F1-582D-5763-588E6D0E82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2277827">
              <a:off x="9376432" y="7424217"/>
              <a:ext cx="914400" cy="914400"/>
            </a:xfrm>
            <a:prstGeom prst="rect">
              <a:avLst/>
            </a:prstGeom>
          </p:spPr>
        </p:pic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BD739CB1-8F69-D8C9-60D7-C141F4367CF7}"/>
                </a:ext>
              </a:extLst>
            </p:cNvPr>
            <p:cNvGrpSpPr/>
            <p:nvPr/>
          </p:nvGrpSpPr>
          <p:grpSpPr>
            <a:xfrm>
              <a:off x="8290861" y="7127402"/>
              <a:ext cx="1436147" cy="1122275"/>
              <a:chOff x="10723415" y="3795143"/>
              <a:chExt cx="1436147" cy="1122275"/>
            </a:xfrm>
          </p:grpSpPr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ACD494BA-C47D-F8E1-2080-9AADE347A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B134F61E-515B-66C1-54EF-782026F1BFCB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Selección de features</a:t>
                </a:r>
              </a:p>
            </p:txBody>
          </p:sp>
        </p:grpSp>
        <p:pic>
          <p:nvPicPr>
            <p:cNvPr id="340" name="Graphic 339" descr="Line arrow: Counter-clockwise curve with solid fill">
              <a:extLst>
                <a:ext uri="{FF2B5EF4-FFF2-40B4-BE49-F238E27FC236}">
                  <a16:creationId xmlns:a16="http://schemas.microsoft.com/office/drawing/2014/main" id="{F5B39169-645B-6BA0-7C3F-9E79BDB032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5108719" flipH="1" flipV="1">
              <a:off x="8487133" y="8023120"/>
              <a:ext cx="876870" cy="876870"/>
            </a:xfrm>
            <a:prstGeom prst="rect">
              <a:avLst/>
            </a:prstGeom>
          </p:spPr>
        </p:pic>
      </p:grpSp>
      <p:sp>
        <p:nvSpPr>
          <p:cNvPr id="351" name="Rectangle 350">
            <a:extLst>
              <a:ext uri="{FF2B5EF4-FFF2-40B4-BE49-F238E27FC236}">
                <a16:creationId xmlns:a16="http://schemas.microsoft.com/office/drawing/2014/main" id="{D09256EF-1F95-42F9-6703-821CAE3C79BB}"/>
              </a:ext>
            </a:extLst>
          </p:cNvPr>
          <p:cNvSpPr/>
          <p:nvPr/>
        </p:nvSpPr>
        <p:spPr>
          <a:xfrm>
            <a:off x="3326819" y="6641599"/>
            <a:ext cx="4175937" cy="2359328"/>
          </a:xfrm>
          <a:prstGeom prst="rect">
            <a:avLst/>
          </a:prstGeom>
          <a:solidFill>
            <a:srgbClr val="ECFFF2"/>
          </a:solidFill>
          <a:ln>
            <a:solidFill>
              <a:srgbClr val="0046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2" name="Graphic 351" descr="Folder with solid fill">
            <a:extLst>
              <a:ext uri="{FF2B5EF4-FFF2-40B4-BE49-F238E27FC236}">
                <a16:creationId xmlns:a16="http://schemas.microsoft.com/office/drawing/2014/main" id="{CD865856-DAAC-82D7-CCB1-96E809411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3481" y="6234315"/>
            <a:ext cx="774796" cy="774796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364164F3-AEC3-1329-CD2D-D3B6B28FD62B}"/>
              </a:ext>
            </a:extLst>
          </p:cNvPr>
          <p:cNvSpPr txBox="1"/>
          <p:nvPr/>
        </p:nvSpPr>
        <p:spPr>
          <a:xfrm>
            <a:off x="3320882" y="6635909"/>
            <a:ext cx="417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Feature Engineering</a:t>
            </a: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BDD49DB-BDA9-8EA0-3CE4-D4EC25D4A789}"/>
              </a:ext>
            </a:extLst>
          </p:cNvPr>
          <p:cNvGrpSpPr/>
          <p:nvPr/>
        </p:nvGrpSpPr>
        <p:grpSpPr>
          <a:xfrm>
            <a:off x="3210506" y="6961971"/>
            <a:ext cx="1436147" cy="906832"/>
            <a:chOff x="10723415" y="3795143"/>
            <a:chExt cx="1436147" cy="906832"/>
          </a:xfrm>
        </p:grpSpPr>
        <p:pic>
          <p:nvPicPr>
            <p:cNvPr id="355" name="Picture 354">
              <a:extLst>
                <a:ext uri="{FF2B5EF4-FFF2-40B4-BE49-F238E27FC236}">
                  <a16:creationId xmlns:a16="http://schemas.microsoft.com/office/drawing/2014/main" id="{5243B5E8-C062-0DF7-8319-6959F9F46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86BA345E-86C9-2261-8689-8657E7C1896E}"/>
                </a:ext>
              </a:extLst>
            </p:cNvPr>
            <p:cNvSpPr txBox="1"/>
            <p:nvPr/>
          </p:nvSpPr>
          <p:spPr>
            <a:xfrm>
              <a:off x="10723415" y="4394198"/>
              <a:ext cx="14361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Escalado</a:t>
              </a:r>
            </a:p>
          </p:txBody>
        </p:sp>
      </p:grpSp>
      <p:pic>
        <p:nvPicPr>
          <p:cNvPr id="357" name="Graphic 356" descr="Line arrow: Counter-clockwise curve with solid fill">
            <a:extLst>
              <a:ext uri="{FF2B5EF4-FFF2-40B4-BE49-F238E27FC236}">
                <a16:creationId xmlns:a16="http://schemas.microsoft.com/office/drawing/2014/main" id="{C42E425F-2CA9-32F3-FC4E-DDA48A301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1116648" flipH="1" flipV="1">
            <a:off x="3179850" y="7836489"/>
            <a:ext cx="876870" cy="876870"/>
          </a:xfrm>
          <a:prstGeom prst="rect">
            <a:avLst/>
          </a:prstGeom>
        </p:spPr>
      </p:pic>
      <p:grpSp>
        <p:nvGrpSpPr>
          <p:cNvPr id="358" name="Group 357">
            <a:extLst>
              <a:ext uri="{FF2B5EF4-FFF2-40B4-BE49-F238E27FC236}">
                <a16:creationId xmlns:a16="http://schemas.microsoft.com/office/drawing/2014/main" id="{B50379A4-7FFF-6EA0-7BA3-C4A7FC4F6AF4}"/>
              </a:ext>
            </a:extLst>
          </p:cNvPr>
          <p:cNvGrpSpPr/>
          <p:nvPr/>
        </p:nvGrpSpPr>
        <p:grpSpPr>
          <a:xfrm>
            <a:off x="3653662" y="7945950"/>
            <a:ext cx="1436147" cy="906832"/>
            <a:chOff x="10723415" y="3795143"/>
            <a:chExt cx="1436147" cy="906832"/>
          </a:xfrm>
        </p:grpSpPr>
        <p:pic>
          <p:nvPicPr>
            <p:cNvPr id="359" name="Picture 358">
              <a:extLst>
                <a:ext uri="{FF2B5EF4-FFF2-40B4-BE49-F238E27FC236}">
                  <a16:creationId xmlns:a16="http://schemas.microsoft.com/office/drawing/2014/main" id="{C46E2AFE-C854-5231-BAD5-32FE2CC90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0F4B094C-7C88-4C86-D4A8-A50C898A3E8E}"/>
                </a:ext>
              </a:extLst>
            </p:cNvPr>
            <p:cNvSpPr txBox="1"/>
            <p:nvPr/>
          </p:nvSpPr>
          <p:spPr>
            <a:xfrm>
              <a:off x="10723415" y="4394198"/>
              <a:ext cx="14361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Balanceo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C0064FCE-4BE1-9654-0681-7FCC7C0B0B35}"/>
              </a:ext>
            </a:extLst>
          </p:cNvPr>
          <p:cNvGrpSpPr/>
          <p:nvPr/>
        </p:nvGrpSpPr>
        <p:grpSpPr>
          <a:xfrm>
            <a:off x="6260295" y="7108559"/>
            <a:ext cx="1180451" cy="791580"/>
            <a:chOff x="10728121" y="3202641"/>
            <a:chExt cx="1180451" cy="791580"/>
          </a:xfrm>
        </p:grpSpPr>
        <p:pic>
          <p:nvPicPr>
            <p:cNvPr id="362" name="Picture 361">
              <a:extLst>
                <a:ext uri="{FF2B5EF4-FFF2-40B4-BE49-F238E27FC236}">
                  <a16:creationId xmlns:a16="http://schemas.microsoft.com/office/drawing/2014/main" id="{D73BB053-799B-EEEB-E640-D08430BBF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11075738" y="3202641"/>
              <a:ext cx="494517" cy="467018"/>
            </a:xfrm>
            <a:prstGeom prst="rect">
              <a:avLst/>
            </a:prstGeom>
          </p:spPr>
        </p:pic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8B8B6D1D-B5F5-0C7E-BD16-BEBBD2639BEE}"/>
                </a:ext>
              </a:extLst>
            </p:cNvPr>
            <p:cNvSpPr txBox="1"/>
            <p:nvPr/>
          </p:nvSpPr>
          <p:spPr>
            <a:xfrm>
              <a:off x="10728121" y="3686444"/>
              <a:ext cx="11804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Train dataset</a:t>
              </a: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6A2C88D3-AA12-005E-F132-A60945D47DAC}"/>
              </a:ext>
            </a:extLst>
          </p:cNvPr>
          <p:cNvGrpSpPr/>
          <p:nvPr/>
        </p:nvGrpSpPr>
        <p:grpSpPr>
          <a:xfrm>
            <a:off x="6290943" y="7982526"/>
            <a:ext cx="1119153" cy="791580"/>
            <a:chOff x="10728121" y="3202641"/>
            <a:chExt cx="1119153" cy="791580"/>
          </a:xfrm>
        </p:grpSpPr>
        <p:pic>
          <p:nvPicPr>
            <p:cNvPr id="365" name="Picture 364">
              <a:extLst>
                <a:ext uri="{FF2B5EF4-FFF2-40B4-BE49-F238E27FC236}">
                  <a16:creationId xmlns:a16="http://schemas.microsoft.com/office/drawing/2014/main" id="{6E0381A9-FC53-E161-D100-117FD0834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11075738" y="3202641"/>
              <a:ext cx="494517" cy="467018"/>
            </a:xfrm>
            <a:prstGeom prst="rect">
              <a:avLst/>
            </a:prstGeom>
          </p:spPr>
        </p:pic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27576508-8AD8-BB99-4458-CBF6421A603A}"/>
                </a:ext>
              </a:extLst>
            </p:cNvPr>
            <p:cNvSpPr txBox="1"/>
            <p:nvPr/>
          </p:nvSpPr>
          <p:spPr>
            <a:xfrm>
              <a:off x="10728121" y="3686444"/>
              <a:ext cx="11191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Test dataset</a:t>
              </a:r>
            </a:p>
          </p:txBody>
        </p:sp>
      </p:grpSp>
      <p:pic>
        <p:nvPicPr>
          <p:cNvPr id="367" name="Graphic 366" descr="Line arrow: Straight with solid fill">
            <a:extLst>
              <a:ext uri="{FF2B5EF4-FFF2-40B4-BE49-F238E27FC236}">
                <a16:creationId xmlns:a16="http://schemas.microsoft.com/office/drawing/2014/main" id="{9A094D3B-F7DA-D3C1-C018-069DDDE5F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9344538">
            <a:off x="5625967" y="7141689"/>
            <a:ext cx="914400" cy="914400"/>
          </a:xfrm>
          <a:prstGeom prst="rect">
            <a:avLst/>
          </a:prstGeom>
        </p:spPr>
      </p:pic>
      <p:pic>
        <p:nvPicPr>
          <p:cNvPr id="368" name="Graphic 367" descr="Line arrow: Straight with solid fill">
            <a:extLst>
              <a:ext uri="{FF2B5EF4-FFF2-40B4-BE49-F238E27FC236}">
                <a16:creationId xmlns:a16="http://schemas.microsoft.com/office/drawing/2014/main" id="{58B39011-2830-14F6-1983-39BC096B1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2277827">
            <a:off x="5613222" y="7470663"/>
            <a:ext cx="914400" cy="914400"/>
          </a:xfrm>
          <a:prstGeom prst="rect">
            <a:avLst/>
          </a:prstGeom>
        </p:spPr>
      </p:pic>
      <p:grpSp>
        <p:nvGrpSpPr>
          <p:cNvPr id="369" name="Group 368">
            <a:extLst>
              <a:ext uri="{FF2B5EF4-FFF2-40B4-BE49-F238E27FC236}">
                <a16:creationId xmlns:a16="http://schemas.microsoft.com/office/drawing/2014/main" id="{DDB9C991-F295-81F9-29B5-D99E9684F92D}"/>
              </a:ext>
            </a:extLst>
          </p:cNvPr>
          <p:cNvGrpSpPr/>
          <p:nvPr/>
        </p:nvGrpSpPr>
        <p:grpSpPr>
          <a:xfrm>
            <a:off x="4527651" y="7173848"/>
            <a:ext cx="1436147" cy="1122275"/>
            <a:chOff x="10723415" y="3795143"/>
            <a:chExt cx="1436147" cy="1122275"/>
          </a:xfrm>
        </p:grpSpPr>
        <p:pic>
          <p:nvPicPr>
            <p:cNvPr id="370" name="Picture 369">
              <a:extLst>
                <a:ext uri="{FF2B5EF4-FFF2-40B4-BE49-F238E27FC236}">
                  <a16:creationId xmlns:a16="http://schemas.microsoft.com/office/drawing/2014/main" id="{EF2B4263-B1CA-A3B3-A60F-B26327264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D8BB8D11-3C1E-D277-CE07-836BEC96E42F}"/>
                </a:ext>
              </a:extLst>
            </p:cNvPr>
            <p:cNvSpPr txBox="1"/>
            <p:nvPr/>
          </p:nvSpPr>
          <p:spPr>
            <a:xfrm>
              <a:off x="10723415" y="4394198"/>
              <a:ext cx="14361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Selección de features</a:t>
              </a:r>
            </a:p>
          </p:txBody>
        </p:sp>
      </p:grpSp>
      <p:pic>
        <p:nvPicPr>
          <p:cNvPr id="372" name="Graphic 371" descr="Line arrow: Counter-clockwise curve with solid fill">
            <a:extLst>
              <a:ext uri="{FF2B5EF4-FFF2-40B4-BE49-F238E27FC236}">
                <a16:creationId xmlns:a16="http://schemas.microsoft.com/office/drawing/2014/main" id="{60171C12-9C5D-2FC8-7596-937F40578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108719" flipH="1" flipV="1">
            <a:off x="4723923" y="8069566"/>
            <a:ext cx="876870" cy="876870"/>
          </a:xfrm>
          <a:prstGeom prst="rect">
            <a:avLst/>
          </a:prstGeom>
        </p:spPr>
      </p:pic>
      <p:grpSp>
        <p:nvGrpSpPr>
          <p:cNvPr id="374" name="Group 373">
            <a:extLst>
              <a:ext uri="{FF2B5EF4-FFF2-40B4-BE49-F238E27FC236}">
                <a16:creationId xmlns:a16="http://schemas.microsoft.com/office/drawing/2014/main" id="{882EF6A2-BBA3-58F2-2734-8A8B6DA198BA}"/>
              </a:ext>
            </a:extLst>
          </p:cNvPr>
          <p:cNvGrpSpPr/>
          <p:nvPr/>
        </p:nvGrpSpPr>
        <p:grpSpPr>
          <a:xfrm>
            <a:off x="8728613" y="7817551"/>
            <a:ext cx="1041439" cy="1126915"/>
            <a:chOff x="10715233" y="2045728"/>
            <a:chExt cx="1041439" cy="1126915"/>
          </a:xfrm>
        </p:grpSpPr>
        <p:pic>
          <p:nvPicPr>
            <p:cNvPr id="43" name="Graphic 42" descr="Single gear with solid fill">
              <a:extLst>
                <a:ext uri="{FF2B5EF4-FFF2-40B4-BE49-F238E27FC236}">
                  <a16:creationId xmlns:a16="http://schemas.microsoft.com/office/drawing/2014/main" id="{8E111618-4C89-2409-5309-534A68B9B0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905792" y="2045728"/>
              <a:ext cx="660322" cy="660322"/>
            </a:xfrm>
            <a:prstGeom prst="rect">
              <a:avLst/>
            </a:prstGeom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F898285A-5757-BB11-9750-6FE369139D29}"/>
                </a:ext>
              </a:extLst>
            </p:cNvPr>
            <p:cNvSpPr txBox="1"/>
            <p:nvPr/>
          </p:nvSpPr>
          <p:spPr>
            <a:xfrm>
              <a:off x="10715233" y="2649423"/>
              <a:ext cx="10414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Logistic</a:t>
              </a:r>
            </a:p>
            <a:p>
              <a:pPr algn="ctr"/>
              <a:r>
                <a:rPr lang="en-US" sz="1400" dirty="0"/>
                <a:t>Regression</a:t>
              </a:r>
            </a:p>
          </p:txBody>
        </p:sp>
      </p:grpSp>
      <p:pic>
        <p:nvPicPr>
          <p:cNvPr id="375" name="Graphic 374" descr="Line arrow: Counter-clockwise curve with solid fill">
            <a:extLst>
              <a:ext uri="{FF2B5EF4-FFF2-40B4-BE49-F238E27FC236}">
                <a16:creationId xmlns:a16="http://schemas.microsoft.com/office/drawing/2014/main" id="{0AA9F23D-AD3C-8F82-B49B-2BA3A7CC3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529221" flipH="1" flipV="1">
            <a:off x="8471668" y="7953261"/>
            <a:ext cx="500596" cy="500596"/>
          </a:xfrm>
          <a:prstGeom prst="rect">
            <a:avLst/>
          </a:prstGeom>
        </p:spPr>
      </p:pic>
      <p:grpSp>
        <p:nvGrpSpPr>
          <p:cNvPr id="376" name="Group 375">
            <a:extLst>
              <a:ext uri="{FF2B5EF4-FFF2-40B4-BE49-F238E27FC236}">
                <a16:creationId xmlns:a16="http://schemas.microsoft.com/office/drawing/2014/main" id="{F8EA17DB-330C-6775-6354-65A49A10492E}"/>
              </a:ext>
            </a:extLst>
          </p:cNvPr>
          <p:cNvGrpSpPr/>
          <p:nvPr/>
        </p:nvGrpSpPr>
        <p:grpSpPr>
          <a:xfrm>
            <a:off x="9259767" y="6994219"/>
            <a:ext cx="1436147" cy="906832"/>
            <a:chOff x="10723415" y="3795143"/>
            <a:chExt cx="1436147" cy="906832"/>
          </a:xfrm>
        </p:grpSpPr>
        <p:pic>
          <p:nvPicPr>
            <p:cNvPr id="377" name="Picture 376">
              <a:extLst>
                <a:ext uri="{FF2B5EF4-FFF2-40B4-BE49-F238E27FC236}">
                  <a16:creationId xmlns:a16="http://schemas.microsoft.com/office/drawing/2014/main" id="{750CA258-2B72-757B-332E-B28C80EDE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321D4FD1-9084-9296-1C7E-0B095625B998}"/>
                </a:ext>
              </a:extLst>
            </p:cNvPr>
            <p:cNvSpPr txBox="1"/>
            <p:nvPr/>
          </p:nvSpPr>
          <p:spPr>
            <a:xfrm>
              <a:off x="10723415" y="4394198"/>
              <a:ext cx="14361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SVM</a:t>
              </a:r>
            </a:p>
          </p:txBody>
        </p: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D4AFE53F-8C96-DD9A-3EC9-0E987A0DAE00}"/>
              </a:ext>
            </a:extLst>
          </p:cNvPr>
          <p:cNvGrpSpPr/>
          <p:nvPr/>
        </p:nvGrpSpPr>
        <p:grpSpPr>
          <a:xfrm>
            <a:off x="10209114" y="7827242"/>
            <a:ext cx="660322" cy="911472"/>
            <a:chOff x="10905792" y="2045728"/>
            <a:chExt cx="660322" cy="911472"/>
          </a:xfrm>
        </p:grpSpPr>
        <p:pic>
          <p:nvPicPr>
            <p:cNvPr id="380" name="Graphic 379" descr="Single gear with solid fill">
              <a:extLst>
                <a:ext uri="{FF2B5EF4-FFF2-40B4-BE49-F238E27FC236}">
                  <a16:creationId xmlns:a16="http://schemas.microsoft.com/office/drawing/2014/main" id="{F017C76B-0457-3EB6-1EE5-3BC3A95FA8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905792" y="2045728"/>
              <a:ext cx="660322" cy="660322"/>
            </a:xfrm>
            <a:prstGeom prst="rect">
              <a:avLst/>
            </a:prstGeom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14CDCE54-F0C4-2030-BF62-AB40E9147685}"/>
                </a:ext>
              </a:extLst>
            </p:cNvPr>
            <p:cNvSpPr txBox="1"/>
            <p:nvPr/>
          </p:nvSpPr>
          <p:spPr>
            <a:xfrm>
              <a:off x="10970206" y="2649423"/>
              <a:ext cx="531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SVM</a:t>
              </a:r>
            </a:p>
          </p:txBody>
        </p:sp>
      </p:grpSp>
      <p:pic>
        <p:nvPicPr>
          <p:cNvPr id="382" name="Graphic 381" descr="Line arrow: Counter-clockwise curve with solid fill">
            <a:extLst>
              <a:ext uri="{FF2B5EF4-FFF2-40B4-BE49-F238E27FC236}">
                <a16:creationId xmlns:a16="http://schemas.microsoft.com/office/drawing/2014/main" id="{AF76AF3C-A452-889F-89AF-913FE7DB0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820395" flipH="1" flipV="1">
            <a:off x="9810611" y="7811311"/>
            <a:ext cx="500596" cy="500596"/>
          </a:xfrm>
          <a:prstGeom prst="rect">
            <a:avLst/>
          </a:prstGeom>
        </p:spPr>
      </p:pic>
      <p:grpSp>
        <p:nvGrpSpPr>
          <p:cNvPr id="383" name="Group 382">
            <a:extLst>
              <a:ext uri="{FF2B5EF4-FFF2-40B4-BE49-F238E27FC236}">
                <a16:creationId xmlns:a16="http://schemas.microsoft.com/office/drawing/2014/main" id="{4240C8C8-5952-A6FC-9FD6-F75C25CE6E62}"/>
              </a:ext>
            </a:extLst>
          </p:cNvPr>
          <p:cNvGrpSpPr/>
          <p:nvPr/>
        </p:nvGrpSpPr>
        <p:grpSpPr>
          <a:xfrm>
            <a:off x="10298803" y="7009111"/>
            <a:ext cx="1436147" cy="906832"/>
            <a:chOff x="10723415" y="3795143"/>
            <a:chExt cx="1436147" cy="906832"/>
          </a:xfrm>
        </p:grpSpPr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11C2FF14-D660-BA23-1D97-69CA50D22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1139997" y="3795143"/>
              <a:ext cx="567606" cy="657950"/>
            </a:xfrm>
            <a:prstGeom prst="rect">
              <a:avLst/>
            </a:prstGeom>
          </p:spPr>
        </p:pic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5DB5FAE8-2A6C-82C0-F7A5-9F1321E34CB7}"/>
                </a:ext>
              </a:extLst>
            </p:cNvPr>
            <p:cNvSpPr txBox="1"/>
            <p:nvPr/>
          </p:nvSpPr>
          <p:spPr>
            <a:xfrm>
              <a:off x="10723415" y="4394198"/>
              <a:ext cx="14361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XGBoost</a:t>
              </a:r>
            </a:p>
          </p:txBody>
        </p:sp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DD224ECA-0E04-7811-4EAF-C196C094273C}"/>
              </a:ext>
            </a:extLst>
          </p:cNvPr>
          <p:cNvGrpSpPr/>
          <p:nvPr/>
        </p:nvGrpSpPr>
        <p:grpSpPr>
          <a:xfrm>
            <a:off x="11147455" y="7842134"/>
            <a:ext cx="861711" cy="911472"/>
            <a:chOff x="10805097" y="2045728"/>
            <a:chExt cx="861711" cy="911472"/>
          </a:xfrm>
        </p:grpSpPr>
        <p:pic>
          <p:nvPicPr>
            <p:cNvPr id="387" name="Graphic 386" descr="Single gear with solid fill">
              <a:extLst>
                <a:ext uri="{FF2B5EF4-FFF2-40B4-BE49-F238E27FC236}">
                  <a16:creationId xmlns:a16="http://schemas.microsoft.com/office/drawing/2014/main" id="{FE73DAE9-48C9-004F-8AA8-629663983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905792" y="2045728"/>
              <a:ext cx="660322" cy="660322"/>
            </a:xfrm>
            <a:prstGeom prst="rect">
              <a:avLst/>
            </a:prstGeom>
          </p:spPr>
        </p:pic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AB0C097F-5A5B-81B8-CD30-0E984462E431}"/>
                </a:ext>
              </a:extLst>
            </p:cNvPr>
            <p:cNvSpPr txBox="1"/>
            <p:nvPr/>
          </p:nvSpPr>
          <p:spPr>
            <a:xfrm>
              <a:off x="10805097" y="2649423"/>
              <a:ext cx="8617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XGBoost</a:t>
              </a:r>
            </a:p>
          </p:txBody>
        </p:sp>
      </p:grpSp>
      <p:pic>
        <p:nvPicPr>
          <p:cNvPr id="389" name="Graphic 388" descr="Line arrow: Counter-clockwise curve with solid fill">
            <a:extLst>
              <a:ext uri="{FF2B5EF4-FFF2-40B4-BE49-F238E27FC236}">
                <a16:creationId xmlns:a16="http://schemas.microsoft.com/office/drawing/2014/main" id="{B8AF7A27-B577-E4CD-9341-C82FD0C37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820395" flipH="1" flipV="1">
            <a:off x="10849647" y="7826203"/>
            <a:ext cx="500596" cy="500596"/>
          </a:xfrm>
          <a:prstGeom prst="rect">
            <a:avLst/>
          </a:prstGeom>
        </p:spPr>
      </p:pic>
      <p:grpSp>
        <p:nvGrpSpPr>
          <p:cNvPr id="391" name="Group 390">
            <a:extLst>
              <a:ext uri="{FF2B5EF4-FFF2-40B4-BE49-F238E27FC236}">
                <a16:creationId xmlns:a16="http://schemas.microsoft.com/office/drawing/2014/main" id="{2A48A85F-09B4-00D4-DDA8-D5FE2AEC3FF9}"/>
              </a:ext>
            </a:extLst>
          </p:cNvPr>
          <p:cNvGrpSpPr/>
          <p:nvPr/>
        </p:nvGrpSpPr>
        <p:grpSpPr>
          <a:xfrm>
            <a:off x="5913909" y="3345617"/>
            <a:ext cx="4547022" cy="2695259"/>
            <a:chOff x="7622725" y="6249207"/>
            <a:chExt cx="4547022" cy="2695259"/>
          </a:xfrm>
        </p:grpSpPr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0875D404-45B2-22E7-0FF6-465CA05E0AE4}"/>
                </a:ext>
              </a:extLst>
            </p:cNvPr>
            <p:cNvSpPr/>
            <p:nvPr/>
          </p:nvSpPr>
          <p:spPr>
            <a:xfrm>
              <a:off x="7993810" y="6551100"/>
              <a:ext cx="4175937" cy="235932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93" name="Graphic 392" descr="Folder with solid fill">
              <a:extLst>
                <a:ext uri="{FF2B5EF4-FFF2-40B4-BE49-F238E27FC236}">
                  <a16:creationId xmlns:a16="http://schemas.microsoft.com/office/drawing/2014/main" id="{2869CF97-57EC-24E1-FB9E-6645B46D2D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22725" y="6249207"/>
              <a:ext cx="774796" cy="774796"/>
            </a:xfrm>
            <a:prstGeom prst="rect">
              <a:avLst/>
            </a:prstGeom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2C8CCDAF-7DE6-D763-100D-EC1AFC26CA74}"/>
                </a:ext>
              </a:extLst>
            </p:cNvPr>
            <p:cNvSpPr txBox="1"/>
            <p:nvPr/>
          </p:nvSpPr>
          <p:spPr>
            <a:xfrm>
              <a:off x="7972941" y="6553375"/>
              <a:ext cx="4175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Optimización de hiperparámetros y</a:t>
              </a:r>
            </a:p>
            <a:p>
              <a:pPr algn="ctr"/>
              <a:r>
                <a:rPr lang="en-US" sz="1400" b="1" dirty="0"/>
                <a:t>Entrenamiento de modelos</a:t>
              </a:r>
            </a:p>
          </p:txBody>
        </p: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293C174A-80D2-24B5-1DE1-DD0C7FA8438B}"/>
                </a:ext>
              </a:extLst>
            </p:cNvPr>
            <p:cNvGrpSpPr/>
            <p:nvPr/>
          </p:nvGrpSpPr>
          <p:grpSpPr>
            <a:xfrm>
              <a:off x="7899750" y="6976863"/>
              <a:ext cx="1436147" cy="1122275"/>
              <a:chOff x="10723415" y="3795143"/>
              <a:chExt cx="1436147" cy="1122275"/>
            </a:xfrm>
          </p:grpSpPr>
          <p:pic>
            <p:nvPicPr>
              <p:cNvPr id="414" name="Picture 413">
                <a:extLst>
                  <a:ext uri="{FF2B5EF4-FFF2-40B4-BE49-F238E27FC236}">
                    <a16:creationId xmlns:a16="http://schemas.microsoft.com/office/drawing/2014/main" id="{6244718C-4746-905D-5604-A7D354710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CB357A2F-B481-6DC4-2F91-F019A3D202F7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Logistic</a:t>
                </a:r>
              </a:p>
              <a:p>
                <a:pPr algn="ctr"/>
                <a:r>
                  <a:rPr lang="en-US" sz="1400" dirty="0"/>
                  <a:t>Regression</a:t>
                </a:r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149F7908-71B6-0556-7C33-5D49FC8B0727}"/>
                </a:ext>
              </a:extLst>
            </p:cNvPr>
            <p:cNvGrpSpPr/>
            <p:nvPr/>
          </p:nvGrpSpPr>
          <p:grpSpPr>
            <a:xfrm>
              <a:off x="8728613" y="7817551"/>
              <a:ext cx="1041439" cy="1126915"/>
              <a:chOff x="10715233" y="2045728"/>
              <a:chExt cx="1041439" cy="1126915"/>
            </a:xfrm>
          </p:grpSpPr>
          <p:pic>
            <p:nvPicPr>
              <p:cNvPr id="412" name="Graphic 411" descr="Single gear with solid fill">
                <a:extLst>
                  <a:ext uri="{FF2B5EF4-FFF2-40B4-BE49-F238E27FC236}">
                    <a16:creationId xmlns:a16="http://schemas.microsoft.com/office/drawing/2014/main" id="{6354748E-3F97-603A-FCD5-F3D8291CB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905792" y="2045728"/>
                <a:ext cx="660322" cy="660322"/>
              </a:xfrm>
              <a:prstGeom prst="rect">
                <a:avLst/>
              </a:prstGeom>
            </p:spPr>
          </p:pic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42119DCB-000C-B9D8-7864-18FCEBA2B350}"/>
                  </a:ext>
                </a:extLst>
              </p:cNvPr>
              <p:cNvSpPr txBox="1"/>
              <p:nvPr/>
            </p:nvSpPr>
            <p:spPr>
              <a:xfrm>
                <a:off x="10715233" y="2649423"/>
                <a:ext cx="10414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Logistic</a:t>
                </a:r>
              </a:p>
              <a:p>
                <a:pPr algn="ctr"/>
                <a:r>
                  <a:rPr lang="en-US" sz="1400" dirty="0"/>
                  <a:t>Regression</a:t>
                </a:r>
              </a:p>
            </p:txBody>
          </p:sp>
        </p:grpSp>
        <p:pic>
          <p:nvPicPr>
            <p:cNvPr id="397" name="Graphic 396" descr="Line arrow: Counter-clockwise curve with solid fill">
              <a:extLst>
                <a:ext uri="{FF2B5EF4-FFF2-40B4-BE49-F238E27FC236}">
                  <a16:creationId xmlns:a16="http://schemas.microsoft.com/office/drawing/2014/main" id="{6FAC9A37-8C60-803D-8E5A-4C49DFC605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8529221" flipH="1" flipV="1">
              <a:off x="8471668" y="7953261"/>
              <a:ext cx="500596" cy="500596"/>
            </a:xfrm>
            <a:prstGeom prst="rect">
              <a:avLst/>
            </a:prstGeom>
          </p:spPr>
        </p:pic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AECBA194-1DF8-E4F3-3761-64698A4FAEFB}"/>
                </a:ext>
              </a:extLst>
            </p:cNvPr>
            <p:cNvGrpSpPr/>
            <p:nvPr/>
          </p:nvGrpSpPr>
          <p:grpSpPr>
            <a:xfrm>
              <a:off x="9259767" y="6994219"/>
              <a:ext cx="1436147" cy="906832"/>
              <a:chOff x="10723415" y="3795143"/>
              <a:chExt cx="1436147" cy="906832"/>
            </a:xfrm>
          </p:grpSpPr>
          <p:pic>
            <p:nvPicPr>
              <p:cNvPr id="410" name="Picture 409">
                <a:extLst>
                  <a:ext uri="{FF2B5EF4-FFF2-40B4-BE49-F238E27FC236}">
                    <a16:creationId xmlns:a16="http://schemas.microsoft.com/office/drawing/2014/main" id="{1C3FACD2-8141-11F3-4640-DB5F7567E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4F1CED9D-E6D3-2E0D-76D4-7FA8F7B59964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SVM</a:t>
                </a:r>
              </a:p>
            </p:txBody>
          </p:sp>
        </p:grp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1D8579A2-5888-757A-A992-525F084D537A}"/>
                </a:ext>
              </a:extLst>
            </p:cNvPr>
            <p:cNvGrpSpPr/>
            <p:nvPr/>
          </p:nvGrpSpPr>
          <p:grpSpPr>
            <a:xfrm>
              <a:off x="10209114" y="7827242"/>
              <a:ext cx="660322" cy="911472"/>
              <a:chOff x="10905792" y="2045728"/>
              <a:chExt cx="660322" cy="911472"/>
            </a:xfrm>
          </p:grpSpPr>
          <p:pic>
            <p:nvPicPr>
              <p:cNvPr id="408" name="Graphic 407" descr="Single gear with solid fill">
                <a:extLst>
                  <a:ext uri="{FF2B5EF4-FFF2-40B4-BE49-F238E27FC236}">
                    <a16:creationId xmlns:a16="http://schemas.microsoft.com/office/drawing/2014/main" id="{1D20FBDF-51A9-ECCD-DA41-4C1F4D283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905792" y="2045728"/>
                <a:ext cx="660322" cy="660322"/>
              </a:xfrm>
              <a:prstGeom prst="rect">
                <a:avLst/>
              </a:prstGeom>
            </p:spPr>
          </p:pic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1B087D58-90CA-C02D-59C6-22D8D9603A8C}"/>
                  </a:ext>
                </a:extLst>
              </p:cNvPr>
              <p:cNvSpPr txBox="1"/>
              <p:nvPr/>
            </p:nvSpPr>
            <p:spPr>
              <a:xfrm>
                <a:off x="10970206" y="2649423"/>
                <a:ext cx="5314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SVM</a:t>
                </a:r>
              </a:p>
            </p:txBody>
          </p:sp>
        </p:grpSp>
        <p:pic>
          <p:nvPicPr>
            <p:cNvPr id="400" name="Graphic 399" descr="Line arrow: Counter-clockwise curve with solid fill">
              <a:extLst>
                <a:ext uri="{FF2B5EF4-FFF2-40B4-BE49-F238E27FC236}">
                  <a16:creationId xmlns:a16="http://schemas.microsoft.com/office/drawing/2014/main" id="{E714F4CF-27E7-D53E-AE00-A49C814E2E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9820395" flipH="1" flipV="1">
              <a:off x="9810611" y="7811311"/>
              <a:ext cx="500596" cy="500596"/>
            </a:xfrm>
            <a:prstGeom prst="rect">
              <a:avLst/>
            </a:prstGeom>
          </p:spPr>
        </p:pic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8EE1C80B-1491-AD3D-6463-34C90F944F0E}"/>
                </a:ext>
              </a:extLst>
            </p:cNvPr>
            <p:cNvGrpSpPr/>
            <p:nvPr/>
          </p:nvGrpSpPr>
          <p:grpSpPr>
            <a:xfrm>
              <a:off x="10298803" y="7009111"/>
              <a:ext cx="1436147" cy="906832"/>
              <a:chOff x="10723415" y="3795143"/>
              <a:chExt cx="1436147" cy="906832"/>
            </a:xfrm>
          </p:grpSpPr>
          <p:pic>
            <p:nvPicPr>
              <p:cNvPr id="406" name="Picture 405">
                <a:extLst>
                  <a:ext uri="{FF2B5EF4-FFF2-40B4-BE49-F238E27FC236}">
                    <a16:creationId xmlns:a16="http://schemas.microsoft.com/office/drawing/2014/main" id="{962F2C1D-7FEE-CC22-FA2F-F524D132F8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11139997" y="3795143"/>
                <a:ext cx="567606" cy="657950"/>
              </a:xfrm>
              <a:prstGeom prst="rect">
                <a:avLst/>
              </a:prstGeom>
            </p:spPr>
          </p:pic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CDB5093C-092E-50C6-AB93-E43DE8B96EFE}"/>
                  </a:ext>
                </a:extLst>
              </p:cNvPr>
              <p:cNvSpPr txBox="1"/>
              <p:nvPr/>
            </p:nvSpPr>
            <p:spPr>
              <a:xfrm>
                <a:off x="10723415" y="4394198"/>
                <a:ext cx="14361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XGBoost</a:t>
                </a:r>
              </a:p>
            </p:txBody>
          </p:sp>
        </p:grp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3886A5EA-54AF-AA8C-0A6A-44058EC62B20}"/>
                </a:ext>
              </a:extLst>
            </p:cNvPr>
            <p:cNvGrpSpPr/>
            <p:nvPr/>
          </p:nvGrpSpPr>
          <p:grpSpPr>
            <a:xfrm>
              <a:off x="11147455" y="7842134"/>
              <a:ext cx="861711" cy="911472"/>
              <a:chOff x="10805097" y="2045728"/>
              <a:chExt cx="861711" cy="911472"/>
            </a:xfrm>
          </p:grpSpPr>
          <p:pic>
            <p:nvPicPr>
              <p:cNvPr id="404" name="Graphic 403" descr="Single gear with solid fill">
                <a:extLst>
                  <a:ext uri="{FF2B5EF4-FFF2-40B4-BE49-F238E27FC236}">
                    <a16:creationId xmlns:a16="http://schemas.microsoft.com/office/drawing/2014/main" id="{0FA992BA-D5A0-A57C-ED2E-0D5946A9D7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905792" y="2045728"/>
                <a:ext cx="660322" cy="660322"/>
              </a:xfrm>
              <a:prstGeom prst="rect">
                <a:avLst/>
              </a:prstGeom>
            </p:spPr>
          </p:pic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3D128611-2FFE-6CB3-BF17-407F14571E38}"/>
                  </a:ext>
                </a:extLst>
              </p:cNvPr>
              <p:cNvSpPr txBox="1"/>
              <p:nvPr/>
            </p:nvSpPr>
            <p:spPr>
              <a:xfrm>
                <a:off x="10805097" y="2649423"/>
                <a:ext cx="8617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XGBoost</a:t>
                </a:r>
              </a:p>
            </p:txBody>
          </p:sp>
        </p:grpSp>
        <p:pic>
          <p:nvPicPr>
            <p:cNvPr id="403" name="Graphic 402" descr="Line arrow: Counter-clockwise curve with solid fill">
              <a:extLst>
                <a:ext uri="{FF2B5EF4-FFF2-40B4-BE49-F238E27FC236}">
                  <a16:creationId xmlns:a16="http://schemas.microsoft.com/office/drawing/2014/main" id="{E0DE7AF6-9688-D9C7-7E7A-8B77A7CC46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9820395" flipH="1" flipV="1">
              <a:off x="10849647" y="7826203"/>
              <a:ext cx="500596" cy="500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396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C7E7E20-6E17-3818-0EBC-D3E86FA872A7}"/>
              </a:ext>
            </a:extLst>
          </p:cNvPr>
          <p:cNvSpPr/>
          <p:nvPr/>
        </p:nvSpPr>
        <p:spPr>
          <a:xfrm rot="10800000">
            <a:off x="817808" y="624624"/>
            <a:ext cx="9723550" cy="6053072"/>
          </a:xfrm>
          <a:prstGeom prst="round2SameRect">
            <a:avLst/>
          </a:prstGeom>
          <a:solidFill>
            <a:srgbClr val="ECFFF2"/>
          </a:solidFill>
          <a:ln>
            <a:solidFill>
              <a:srgbClr val="ECFF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69CFAAF-9CE5-0711-3B23-45AE6C4C063E}"/>
              </a:ext>
            </a:extLst>
          </p:cNvPr>
          <p:cNvSpPr/>
          <p:nvPr/>
        </p:nvSpPr>
        <p:spPr>
          <a:xfrm>
            <a:off x="817809" y="134585"/>
            <a:ext cx="9723550" cy="57375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Ambiente dockerizado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95DA899-8840-AECF-EC25-AE0BC7166C40}"/>
              </a:ext>
            </a:extLst>
          </p:cNvPr>
          <p:cNvGrpSpPr/>
          <p:nvPr/>
        </p:nvGrpSpPr>
        <p:grpSpPr>
          <a:xfrm>
            <a:off x="1732208" y="1236371"/>
            <a:ext cx="2691751" cy="2192629"/>
            <a:chOff x="1126835" y="1236371"/>
            <a:chExt cx="2691751" cy="21926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E4A189-F5DF-08BE-A0B7-F720B1F8F219}"/>
                </a:ext>
              </a:extLst>
            </p:cNvPr>
            <p:cNvSpPr/>
            <p:nvPr/>
          </p:nvSpPr>
          <p:spPr>
            <a:xfrm>
              <a:off x="1128923" y="1236371"/>
              <a:ext cx="2689663" cy="2192629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AEB14D-74AC-2125-B56A-05666B0F8582}"/>
                </a:ext>
              </a:extLst>
            </p:cNvPr>
            <p:cNvSpPr txBox="1"/>
            <p:nvPr/>
          </p:nvSpPr>
          <p:spPr>
            <a:xfrm>
              <a:off x="1126835" y="1279609"/>
              <a:ext cx="26896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Módulo de preprocesamiento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2BAAB0A-B9FB-95AD-AA4B-0FB1C07A0AB9}"/>
                </a:ext>
              </a:extLst>
            </p:cNvPr>
            <p:cNvGrpSpPr/>
            <p:nvPr/>
          </p:nvGrpSpPr>
          <p:grpSpPr>
            <a:xfrm>
              <a:off x="1307206" y="1609098"/>
              <a:ext cx="2328929" cy="438643"/>
              <a:chOff x="3078051" y="2021983"/>
              <a:chExt cx="2328929" cy="43864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2BD7D5-EE85-5C82-EA76-B9AD36E5033C}"/>
                  </a:ext>
                </a:extLst>
              </p:cNvPr>
              <p:cNvSpPr/>
              <p:nvPr/>
            </p:nvSpPr>
            <p:spPr>
              <a:xfrm>
                <a:off x="3078051" y="2021983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AB8FDD-E400-39F8-FD04-3F0179FCD3F7}"/>
                  </a:ext>
                </a:extLst>
              </p:cNvPr>
              <p:cNvSpPr txBox="1"/>
              <p:nvPr/>
            </p:nvSpPr>
            <p:spPr>
              <a:xfrm>
                <a:off x="3078051" y="2085413"/>
                <a:ext cx="23289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Descarga de dataset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6F3870D-BE1D-CD57-1227-5E8A8F0DF8D8}"/>
                </a:ext>
              </a:extLst>
            </p:cNvPr>
            <p:cNvGrpSpPr/>
            <p:nvPr/>
          </p:nvGrpSpPr>
          <p:grpSpPr>
            <a:xfrm>
              <a:off x="1307204" y="2226558"/>
              <a:ext cx="2328930" cy="438643"/>
              <a:chOff x="4099774" y="2684847"/>
              <a:chExt cx="2328930" cy="43864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22393D6-B87E-8795-8DE5-02CFFC836CBD}"/>
                  </a:ext>
                </a:extLst>
              </p:cNvPr>
              <p:cNvSpPr/>
              <p:nvPr/>
            </p:nvSpPr>
            <p:spPr>
              <a:xfrm>
                <a:off x="4099775" y="2684847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58C746-B480-85C0-DD01-039DFF4DAA59}"/>
                  </a:ext>
                </a:extLst>
              </p:cNvPr>
              <p:cNvSpPr txBox="1"/>
              <p:nvPr/>
            </p:nvSpPr>
            <p:spPr>
              <a:xfrm>
                <a:off x="4099774" y="2750279"/>
                <a:ext cx="23289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División en train y test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176A6-9BAF-4995-4C57-98C1403F9977}"/>
                </a:ext>
              </a:extLst>
            </p:cNvPr>
            <p:cNvGrpSpPr/>
            <p:nvPr/>
          </p:nvGrpSpPr>
          <p:grpSpPr>
            <a:xfrm>
              <a:off x="1307204" y="2837800"/>
              <a:ext cx="2328930" cy="438643"/>
              <a:chOff x="4099774" y="2684847"/>
              <a:chExt cx="2328930" cy="43864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4F6CFED-51B1-4A3E-5AB7-11929C5FC8BE}"/>
                  </a:ext>
                </a:extLst>
              </p:cNvPr>
              <p:cNvSpPr/>
              <p:nvPr/>
            </p:nvSpPr>
            <p:spPr>
              <a:xfrm>
                <a:off x="4099775" y="2684847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D3062EF-D479-D532-0586-843DC4B6302A}"/>
                  </a:ext>
                </a:extLst>
              </p:cNvPr>
              <p:cNvSpPr txBox="1"/>
              <p:nvPr/>
            </p:nvSpPr>
            <p:spPr>
              <a:xfrm>
                <a:off x="4099774" y="2750279"/>
                <a:ext cx="23289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Preprocesamiento</a:t>
                </a:r>
              </a:p>
            </p:txBody>
          </p:sp>
        </p:grpSp>
        <p:sp>
          <p:nvSpPr>
            <p:cNvPr id="83" name="Arrow: Right 82">
              <a:extLst>
                <a:ext uri="{FF2B5EF4-FFF2-40B4-BE49-F238E27FC236}">
                  <a16:creationId xmlns:a16="http://schemas.microsoft.com/office/drawing/2014/main" id="{42F439FB-329D-3149-2494-D2B918A4C555}"/>
                </a:ext>
              </a:extLst>
            </p:cNvPr>
            <p:cNvSpPr/>
            <p:nvPr/>
          </p:nvSpPr>
          <p:spPr>
            <a:xfrm rot="5400000">
              <a:off x="2266259" y="2009050"/>
              <a:ext cx="410818" cy="319462"/>
            </a:xfrm>
            <a:prstGeom prst="rightArrow">
              <a:avLst/>
            </a:prstGeom>
            <a:solidFill>
              <a:srgbClr val="CFE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Arrow: Right 83">
              <a:extLst>
                <a:ext uri="{FF2B5EF4-FFF2-40B4-BE49-F238E27FC236}">
                  <a16:creationId xmlns:a16="http://schemas.microsoft.com/office/drawing/2014/main" id="{5F769B2B-F8C0-9A24-FE60-043C1877C011}"/>
                </a:ext>
              </a:extLst>
            </p:cNvPr>
            <p:cNvSpPr/>
            <p:nvPr/>
          </p:nvSpPr>
          <p:spPr>
            <a:xfrm rot="5400000">
              <a:off x="2266259" y="2591742"/>
              <a:ext cx="410818" cy="319462"/>
            </a:xfrm>
            <a:prstGeom prst="rightArrow">
              <a:avLst/>
            </a:prstGeom>
            <a:solidFill>
              <a:srgbClr val="CFE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395E7E3-139B-88AD-38CE-0B8296C51F76}"/>
              </a:ext>
            </a:extLst>
          </p:cNvPr>
          <p:cNvGrpSpPr/>
          <p:nvPr/>
        </p:nvGrpSpPr>
        <p:grpSpPr>
          <a:xfrm>
            <a:off x="5988160" y="2864482"/>
            <a:ext cx="2328930" cy="438643"/>
            <a:chOff x="3767070" y="4798687"/>
            <a:chExt cx="2328930" cy="438643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9CEC418-C56F-1E7B-9EF6-36811925621F}"/>
                </a:ext>
              </a:extLst>
            </p:cNvPr>
            <p:cNvSpPr/>
            <p:nvPr/>
          </p:nvSpPr>
          <p:spPr>
            <a:xfrm>
              <a:off x="3767071" y="4798687"/>
              <a:ext cx="2328929" cy="438643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C1E2CDA-484D-82D1-1BA0-902425E1F743}"/>
                </a:ext>
              </a:extLst>
            </p:cNvPr>
            <p:cNvSpPr txBox="1"/>
            <p:nvPr/>
          </p:nvSpPr>
          <p:spPr>
            <a:xfrm>
              <a:off x="3767070" y="4864119"/>
              <a:ext cx="2328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Selección del mejor modelo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E9DF383-4AB3-1C0D-6F88-A2F4F4E9BA61}"/>
              </a:ext>
            </a:extLst>
          </p:cNvPr>
          <p:cNvGrpSpPr/>
          <p:nvPr/>
        </p:nvGrpSpPr>
        <p:grpSpPr>
          <a:xfrm>
            <a:off x="5382251" y="1228224"/>
            <a:ext cx="3425785" cy="1365541"/>
            <a:chOff x="3599640" y="5048138"/>
            <a:chExt cx="3425785" cy="1365541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6709E5D-5647-E500-2671-0199F506C4A7}"/>
                </a:ext>
              </a:extLst>
            </p:cNvPr>
            <p:cNvSpPr/>
            <p:nvPr/>
          </p:nvSpPr>
          <p:spPr>
            <a:xfrm>
              <a:off x="3599641" y="5048138"/>
              <a:ext cx="3425784" cy="1365541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B275E34-FC8E-87FB-0541-3508451C56D0}"/>
                </a:ext>
              </a:extLst>
            </p:cNvPr>
            <p:cNvSpPr txBox="1"/>
            <p:nvPr/>
          </p:nvSpPr>
          <p:spPr>
            <a:xfrm>
              <a:off x="3599640" y="5059144"/>
              <a:ext cx="34257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Tracking server</a:t>
              </a: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F02D5EE-FE8D-35E8-9274-19565EA71AFE}"/>
                </a:ext>
              </a:extLst>
            </p:cNvPr>
            <p:cNvGrpSpPr/>
            <p:nvPr/>
          </p:nvGrpSpPr>
          <p:grpSpPr>
            <a:xfrm>
              <a:off x="3693018" y="5348247"/>
              <a:ext cx="2328929" cy="438643"/>
              <a:chOff x="302470" y="6106073"/>
              <a:chExt cx="2328929" cy="438643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3BEAF57-40F5-0CD1-8AAA-3775FF234C71}"/>
                  </a:ext>
                </a:extLst>
              </p:cNvPr>
              <p:cNvSpPr/>
              <p:nvPr/>
            </p:nvSpPr>
            <p:spPr>
              <a:xfrm>
                <a:off x="302470" y="6106073"/>
                <a:ext cx="2328929" cy="43864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6536F70-9C1A-F4B7-D7A9-0D5E8D36A954}"/>
                  </a:ext>
                </a:extLst>
              </p:cNvPr>
              <p:cNvSpPr txBox="1"/>
              <p:nvPr/>
            </p:nvSpPr>
            <p:spPr>
              <a:xfrm>
                <a:off x="302470" y="6186133"/>
                <a:ext cx="23289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Registro de modelos entrenados</a:t>
                </a:r>
              </a:p>
            </p:txBody>
          </p:sp>
        </p:grp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A4309AA-26BD-BF8E-85F3-570CE4DB1AC1}"/>
                </a:ext>
              </a:extLst>
            </p:cNvPr>
            <p:cNvSpPr/>
            <p:nvPr/>
          </p:nvSpPr>
          <p:spPr>
            <a:xfrm>
              <a:off x="3693017" y="5882112"/>
              <a:ext cx="2328929" cy="438643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246BFC0-934D-135B-2B42-CF0397296D18}"/>
                </a:ext>
              </a:extLst>
            </p:cNvPr>
            <p:cNvSpPr txBox="1"/>
            <p:nvPr/>
          </p:nvSpPr>
          <p:spPr>
            <a:xfrm>
              <a:off x="3693017" y="5962172"/>
              <a:ext cx="23289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Métricas y gráficos de modelos</a:t>
              </a:r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D359E80-70F6-194D-052C-B02901A6E1F6}"/>
                </a:ext>
              </a:extLst>
            </p:cNvPr>
            <p:cNvGrpSpPr/>
            <p:nvPr/>
          </p:nvGrpSpPr>
          <p:grpSpPr>
            <a:xfrm>
              <a:off x="6151333" y="5500245"/>
              <a:ext cx="766293" cy="624626"/>
              <a:chOff x="6151333" y="5500245"/>
              <a:chExt cx="766293" cy="624626"/>
            </a:xfrm>
          </p:grpSpPr>
          <p:sp>
            <p:nvSpPr>
              <p:cNvPr id="138" name="Rectangle: Folded Corner 137">
                <a:extLst>
                  <a:ext uri="{FF2B5EF4-FFF2-40B4-BE49-F238E27FC236}">
                    <a16:creationId xmlns:a16="http://schemas.microsoft.com/office/drawing/2014/main" id="{59903752-B320-8674-A14B-103AC177996D}"/>
                  </a:ext>
                </a:extLst>
              </p:cNvPr>
              <p:cNvSpPr/>
              <p:nvPr/>
            </p:nvSpPr>
            <p:spPr>
              <a:xfrm>
                <a:off x="6151334" y="5500245"/>
                <a:ext cx="766292" cy="624626"/>
              </a:xfrm>
              <a:prstGeom prst="foldedCorner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99D2CD2-2105-FB01-6D27-28296C05B3E8}"/>
                  </a:ext>
                </a:extLst>
              </p:cNvPr>
              <p:cNvSpPr txBox="1"/>
              <p:nvPr/>
            </p:nvSpPr>
            <p:spPr>
              <a:xfrm>
                <a:off x="6151333" y="5578353"/>
                <a:ext cx="7662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Mejor</a:t>
                </a:r>
              </a:p>
              <a:p>
                <a:pPr algn="ctr"/>
                <a:r>
                  <a:rPr lang="en-US" sz="1200" dirty="0"/>
                  <a:t>modelo</a:t>
                </a:r>
              </a:p>
            </p:txBody>
          </p:sp>
        </p:grpSp>
      </p:grpSp>
      <p:sp>
        <p:nvSpPr>
          <p:cNvPr id="144" name="Arrow: Right 143">
            <a:extLst>
              <a:ext uri="{FF2B5EF4-FFF2-40B4-BE49-F238E27FC236}">
                <a16:creationId xmlns:a16="http://schemas.microsoft.com/office/drawing/2014/main" id="{19A0E2C9-B55F-9ED1-BEB2-5725B5F35293}"/>
              </a:ext>
            </a:extLst>
          </p:cNvPr>
          <p:cNvSpPr/>
          <p:nvPr/>
        </p:nvSpPr>
        <p:spPr>
          <a:xfrm rot="16200000">
            <a:off x="6884663" y="2592295"/>
            <a:ext cx="409711" cy="319462"/>
          </a:xfrm>
          <a:prstGeom prst="rightArrow">
            <a:avLst>
              <a:gd name="adj1" fmla="val 50000"/>
              <a:gd name="adj2" fmla="val 62095"/>
            </a:avLst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3F63602-C094-1BF9-4CC6-4D62CA1732D5}"/>
              </a:ext>
            </a:extLst>
          </p:cNvPr>
          <p:cNvSpPr/>
          <p:nvPr/>
        </p:nvSpPr>
        <p:spPr>
          <a:xfrm>
            <a:off x="337146" y="6358071"/>
            <a:ext cx="2328929" cy="438643"/>
          </a:xfrm>
          <a:prstGeom prst="rect">
            <a:avLst/>
          </a:prstGeom>
          <a:solidFill>
            <a:srgbClr val="ECFFF2"/>
          </a:solidFill>
          <a:ln>
            <a:solidFill>
              <a:srgbClr val="0046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5BA8BEE-667C-9632-1310-5F0A5810874D}"/>
              </a:ext>
            </a:extLst>
          </p:cNvPr>
          <p:cNvSpPr txBox="1"/>
          <p:nvPr/>
        </p:nvSpPr>
        <p:spPr>
          <a:xfrm>
            <a:off x="337145" y="6423503"/>
            <a:ext cx="2328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Consulta de métricas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7C552B9-CA11-BB68-A446-D421306ECFC5}"/>
              </a:ext>
            </a:extLst>
          </p:cNvPr>
          <p:cNvGrpSpPr/>
          <p:nvPr/>
        </p:nvGrpSpPr>
        <p:grpSpPr>
          <a:xfrm>
            <a:off x="7856588" y="4094891"/>
            <a:ext cx="1902893" cy="1986793"/>
            <a:chOff x="6771028" y="3634836"/>
            <a:chExt cx="1902893" cy="198679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EC6D115-D84D-76B1-FECF-139C1B4C3F7A}"/>
                </a:ext>
              </a:extLst>
            </p:cNvPr>
            <p:cNvSpPr/>
            <p:nvPr/>
          </p:nvSpPr>
          <p:spPr>
            <a:xfrm>
              <a:off x="6771029" y="3634836"/>
              <a:ext cx="1891674" cy="1986793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23F80657-7A57-4ACD-6920-A25DC039008A}"/>
                </a:ext>
              </a:extLst>
            </p:cNvPr>
            <p:cNvGrpSpPr/>
            <p:nvPr/>
          </p:nvGrpSpPr>
          <p:grpSpPr>
            <a:xfrm>
              <a:off x="6935507" y="4560872"/>
              <a:ext cx="1511123" cy="395493"/>
              <a:chOff x="9863069" y="4250586"/>
              <a:chExt cx="1511123" cy="395493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A6FB00A4-75C4-B4CC-4FB7-31F0513553B3}"/>
                  </a:ext>
                </a:extLst>
              </p:cNvPr>
              <p:cNvSpPr/>
              <p:nvPr/>
            </p:nvSpPr>
            <p:spPr>
              <a:xfrm>
                <a:off x="9863070" y="4250586"/>
                <a:ext cx="1511121" cy="395493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FC6182A-3879-C239-2BEB-FBDB3574D46A}"/>
                  </a:ext>
                </a:extLst>
              </p:cNvPr>
              <p:cNvSpPr txBox="1"/>
              <p:nvPr/>
            </p:nvSpPr>
            <p:spPr>
              <a:xfrm>
                <a:off x="9863069" y="4316018"/>
                <a:ext cx="15111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Consulta de métricas</a:t>
                </a:r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30DC40D-A7D1-FD19-F360-003C10DC0923}"/>
                </a:ext>
              </a:extLst>
            </p:cNvPr>
            <p:cNvGrpSpPr/>
            <p:nvPr/>
          </p:nvGrpSpPr>
          <p:grpSpPr>
            <a:xfrm>
              <a:off x="6935506" y="5079870"/>
              <a:ext cx="1511123" cy="395492"/>
              <a:chOff x="9852272" y="4809015"/>
              <a:chExt cx="1511123" cy="395492"/>
            </a:xfrm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A6920B43-5195-35E2-820B-F3F9E4DAB1B3}"/>
                  </a:ext>
                </a:extLst>
              </p:cNvPr>
              <p:cNvSpPr/>
              <p:nvPr/>
            </p:nvSpPr>
            <p:spPr>
              <a:xfrm>
                <a:off x="9852273" y="4809015"/>
                <a:ext cx="1511121" cy="395492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D9506027-D047-C408-E807-3F1BFA0D6815}"/>
                  </a:ext>
                </a:extLst>
              </p:cNvPr>
              <p:cNvSpPr txBox="1"/>
              <p:nvPr/>
            </p:nvSpPr>
            <p:spPr>
              <a:xfrm>
                <a:off x="9852272" y="4874446"/>
                <a:ext cx="15111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Consulta de gráficos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29479036-D063-17BF-4CB3-9B3FC827E670}"/>
                </a:ext>
              </a:extLst>
            </p:cNvPr>
            <p:cNvGrpSpPr/>
            <p:nvPr/>
          </p:nvGrpSpPr>
          <p:grpSpPr>
            <a:xfrm>
              <a:off x="6935507" y="4038856"/>
              <a:ext cx="1511123" cy="395492"/>
              <a:chOff x="10004672" y="4961415"/>
              <a:chExt cx="1511123" cy="395492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8220A9F-7424-90EA-5A43-B2439C791491}"/>
                  </a:ext>
                </a:extLst>
              </p:cNvPr>
              <p:cNvSpPr/>
              <p:nvPr/>
            </p:nvSpPr>
            <p:spPr>
              <a:xfrm>
                <a:off x="10004673" y="4961415"/>
                <a:ext cx="1511121" cy="395492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AA9A2B56-B56F-69BE-30E3-D9ACA02C1C6C}"/>
                  </a:ext>
                </a:extLst>
              </p:cNvPr>
              <p:cNvSpPr txBox="1"/>
              <p:nvPr/>
            </p:nvSpPr>
            <p:spPr>
              <a:xfrm>
                <a:off x="10004672" y="5026846"/>
                <a:ext cx="15111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Predicciones</a:t>
                </a: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81FBCF3-3282-53A7-2C78-4399281EE02C}"/>
                </a:ext>
              </a:extLst>
            </p:cNvPr>
            <p:cNvSpPr txBox="1"/>
            <p:nvPr/>
          </p:nvSpPr>
          <p:spPr>
            <a:xfrm>
              <a:off x="6771028" y="3689338"/>
              <a:ext cx="1902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Servicio web</a:t>
              </a:r>
            </a:p>
          </p:txBody>
        </p:sp>
      </p:grpSp>
      <p:sp>
        <p:nvSpPr>
          <p:cNvPr id="169" name="Arrow: Bent 168">
            <a:extLst>
              <a:ext uri="{FF2B5EF4-FFF2-40B4-BE49-F238E27FC236}">
                <a16:creationId xmlns:a16="http://schemas.microsoft.com/office/drawing/2014/main" id="{2D0337E6-DCEB-105B-1029-37F2FD15486E}"/>
              </a:ext>
            </a:extLst>
          </p:cNvPr>
          <p:cNvSpPr/>
          <p:nvPr/>
        </p:nvSpPr>
        <p:spPr>
          <a:xfrm>
            <a:off x="4741257" y="1778959"/>
            <a:ext cx="679944" cy="1890561"/>
          </a:xfrm>
          <a:prstGeom prst="ben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4A5952D-AFDD-B62B-19DD-03202F32C501}"/>
              </a:ext>
            </a:extLst>
          </p:cNvPr>
          <p:cNvGrpSpPr/>
          <p:nvPr/>
        </p:nvGrpSpPr>
        <p:grpSpPr>
          <a:xfrm>
            <a:off x="2296793" y="3628350"/>
            <a:ext cx="3988163" cy="2627338"/>
            <a:chOff x="3981904" y="1237040"/>
            <a:chExt cx="4850915" cy="3180419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38B6A23-619D-D61C-0122-A1BF1F2A14C3}"/>
                </a:ext>
              </a:extLst>
            </p:cNvPr>
            <p:cNvSpPr/>
            <p:nvPr/>
          </p:nvSpPr>
          <p:spPr>
            <a:xfrm>
              <a:off x="3981904" y="1244891"/>
              <a:ext cx="4838037" cy="3172568"/>
            </a:xfrm>
            <a:prstGeom prst="rect">
              <a:avLst/>
            </a:prstGeom>
            <a:solidFill>
              <a:srgbClr val="ECFFF2"/>
            </a:solidFill>
            <a:ln>
              <a:solidFill>
                <a:srgbClr val="0046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DF9D89F1-096B-6066-8B87-45481F230BDA}"/>
                </a:ext>
              </a:extLst>
            </p:cNvPr>
            <p:cNvGrpSpPr/>
            <p:nvPr/>
          </p:nvGrpSpPr>
          <p:grpSpPr>
            <a:xfrm>
              <a:off x="4129701" y="1587387"/>
              <a:ext cx="4520548" cy="830283"/>
              <a:chOff x="2414725" y="3550819"/>
              <a:chExt cx="4520548" cy="830282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06B05C81-086C-A292-C0D5-EB936C042CB7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F3050233-1165-3BFA-D776-1ACAF8E109C4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508A2575-C58B-82F7-2ABA-A2DFA830F6E4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A6CDC4D5-F1EB-E30A-E5EA-6F74E53D7EDB}"/>
                    </a:ext>
                  </a:extLst>
                </p:cNvPr>
                <p:cNvSpPr txBox="1"/>
                <p:nvPr/>
              </p:nvSpPr>
              <p:spPr>
                <a:xfrm>
                  <a:off x="2588652" y="3512200"/>
                  <a:ext cx="2328929" cy="279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/>
                    <a:t>Optimización de hiperparámetros</a:t>
                  </a:r>
                </a:p>
              </p:txBody>
            </p:sp>
          </p:grp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D9EB62B5-B303-C2B2-16F0-396A28E79A35}"/>
                  </a:ext>
                </a:extLst>
              </p:cNvPr>
              <p:cNvGrpSpPr/>
              <p:nvPr/>
            </p:nvGrpSpPr>
            <p:grpSpPr>
              <a:xfrm>
                <a:off x="5105519" y="3858596"/>
                <a:ext cx="1765360" cy="438643"/>
                <a:chOff x="5047565" y="3429000"/>
                <a:chExt cx="1765360" cy="438643"/>
              </a:xfrm>
            </p:grpSpPr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4DAAB51A-04B5-EB00-811C-6AA770205AFC}"/>
                    </a:ext>
                  </a:extLst>
                </p:cNvPr>
                <p:cNvSpPr/>
                <p:nvPr/>
              </p:nvSpPr>
              <p:spPr>
                <a:xfrm>
                  <a:off x="5047567" y="3429000"/>
                  <a:ext cx="1765358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8AC2ADD9-E737-5A9A-F000-E40193C5ABC0}"/>
                    </a:ext>
                  </a:extLst>
                </p:cNvPr>
                <p:cNvSpPr txBox="1"/>
                <p:nvPr/>
              </p:nvSpPr>
              <p:spPr>
                <a:xfrm>
                  <a:off x="5047565" y="3517693"/>
                  <a:ext cx="1765359" cy="2607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Entrenamiento de modelo</a:t>
                  </a:r>
                </a:p>
              </p:txBody>
            </p:sp>
          </p:grp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369589B4-A487-5D75-448A-51B77C7E71E4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Logistic Regression</a:t>
                </a:r>
              </a:p>
            </p:txBody>
          </p:sp>
          <p:sp>
            <p:nvSpPr>
              <p:cNvPr id="198" name="Arrow: Right 197">
                <a:extLst>
                  <a:ext uri="{FF2B5EF4-FFF2-40B4-BE49-F238E27FC236}">
                    <a16:creationId xmlns:a16="http://schemas.microsoft.com/office/drawing/2014/main" id="{50E91894-820B-4C06-DFF0-17B632A2C6C6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0A65CD0D-D13E-5147-12D1-C61A3B6DFE4D}"/>
                </a:ext>
              </a:extLst>
            </p:cNvPr>
            <p:cNvGrpSpPr/>
            <p:nvPr/>
          </p:nvGrpSpPr>
          <p:grpSpPr>
            <a:xfrm>
              <a:off x="4129701" y="2506364"/>
              <a:ext cx="4520548" cy="830283"/>
              <a:chOff x="2414725" y="3550819"/>
              <a:chExt cx="4520548" cy="830282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CF688F1-CA23-BF81-8700-D6E09DE9FFC8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AABABA11-8D37-AA2D-C22A-41AB655CCC7C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8CBA6D28-0D17-E389-6C6C-C9DE28A9BF11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2EFD75CA-9547-C9E5-ED7E-421BBDF321F7}"/>
                    </a:ext>
                  </a:extLst>
                </p:cNvPr>
                <p:cNvSpPr txBox="1"/>
                <p:nvPr/>
              </p:nvSpPr>
              <p:spPr>
                <a:xfrm>
                  <a:off x="2588652" y="3512200"/>
                  <a:ext cx="2328929" cy="2794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/>
                    <a:t>Optimización de hiperparámetros</a:t>
                  </a:r>
                </a:p>
              </p:txBody>
            </p: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50CD43-ADF0-B328-3903-F2731ACF7DF0}"/>
                  </a:ext>
                </a:extLst>
              </p:cNvPr>
              <p:cNvGrpSpPr/>
              <p:nvPr/>
            </p:nvGrpSpPr>
            <p:grpSpPr>
              <a:xfrm>
                <a:off x="5105519" y="3858596"/>
                <a:ext cx="1765360" cy="438643"/>
                <a:chOff x="5047565" y="3429000"/>
                <a:chExt cx="1765360" cy="438643"/>
              </a:xfrm>
            </p:grpSpPr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A63AC719-C41F-8572-3379-06485ED9EBBD}"/>
                    </a:ext>
                  </a:extLst>
                </p:cNvPr>
                <p:cNvSpPr/>
                <p:nvPr/>
              </p:nvSpPr>
              <p:spPr>
                <a:xfrm>
                  <a:off x="5047567" y="3429000"/>
                  <a:ext cx="1765358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98B3B199-B2DA-E5A1-7840-72EC1B185516}"/>
                    </a:ext>
                  </a:extLst>
                </p:cNvPr>
                <p:cNvSpPr txBox="1"/>
                <p:nvPr/>
              </p:nvSpPr>
              <p:spPr>
                <a:xfrm>
                  <a:off x="5047565" y="3517693"/>
                  <a:ext cx="176535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Entrenamiento de modelo</a:t>
                  </a:r>
                </a:p>
              </p:txBody>
            </p:sp>
          </p:grp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B49865E-0C2E-C8BD-ACC2-D4CCBBE0D719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SVM</a:t>
                </a:r>
              </a:p>
            </p:txBody>
          </p:sp>
          <p:sp>
            <p:nvSpPr>
              <p:cNvPr id="189" name="Arrow: Right 188">
                <a:extLst>
                  <a:ext uri="{FF2B5EF4-FFF2-40B4-BE49-F238E27FC236}">
                    <a16:creationId xmlns:a16="http://schemas.microsoft.com/office/drawing/2014/main" id="{325579E0-5670-749B-5977-322C46A40557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9422DA18-CCCE-B081-DF06-D4117C9C4000}"/>
                </a:ext>
              </a:extLst>
            </p:cNvPr>
            <p:cNvGrpSpPr/>
            <p:nvPr/>
          </p:nvGrpSpPr>
          <p:grpSpPr>
            <a:xfrm>
              <a:off x="4129701" y="3422428"/>
              <a:ext cx="4520548" cy="830283"/>
              <a:chOff x="2414725" y="3550819"/>
              <a:chExt cx="4520548" cy="830282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3BC3EA70-040E-F49D-C397-093575C9A054}"/>
                  </a:ext>
                </a:extLst>
              </p:cNvPr>
              <p:cNvSpPr/>
              <p:nvPr/>
            </p:nvSpPr>
            <p:spPr>
              <a:xfrm>
                <a:off x="2423373" y="3565700"/>
                <a:ext cx="4511900" cy="815401"/>
              </a:xfrm>
              <a:prstGeom prst="rect">
                <a:avLst/>
              </a:prstGeom>
              <a:solidFill>
                <a:srgbClr val="ECFFF2"/>
              </a:solidFill>
              <a:ln>
                <a:solidFill>
                  <a:srgbClr val="0046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C1913AC1-7C77-4972-5804-B00E0733E859}"/>
                  </a:ext>
                </a:extLst>
              </p:cNvPr>
              <p:cNvGrpSpPr/>
              <p:nvPr/>
            </p:nvGrpSpPr>
            <p:grpSpPr>
              <a:xfrm>
                <a:off x="2511380" y="3858596"/>
                <a:ext cx="2328930" cy="438643"/>
                <a:chOff x="2588652" y="3420714"/>
                <a:chExt cx="2328930" cy="438643"/>
              </a:xfrm>
            </p:grpSpPr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3887CAD4-BB5A-BD90-086D-7B9051E48796}"/>
                    </a:ext>
                  </a:extLst>
                </p:cNvPr>
                <p:cNvSpPr/>
                <p:nvPr/>
              </p:nvSpPr>
              <p:spPr>
                <a:xfrm>
                  <a:off x="2588653" y="3420714"/>
                  <a:ext cx="2328929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39A021CD-331E-F749-6D70-23DB80C68ED5}"/>
                    </a:ext>
                  </a:extLst>
                </p:cNvPr>
                <p:cNvSpPr txBox="1"/>
                <p:nvPr/>
              </p:nvSpPr>
              <p:spPr>
                <a:xfrm>
                  <a:off x="2588652" y="3512200"/>
                  <a:ext cx="2328929" cy="2794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dirty="0"/>
                    <a:t>Optimización de hiperparámetros</a:t>
                  </a:r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EF330E52-04D3-CC09-41EC-279BD5F82742}"/>
                  </a:ext>
                </a:extLst>
              </p:cNvPr>
              <p:cNvGrpSpPr/>
              <p:nvPr/>
            </p:nvGrpSpPr>
            <p:grpSpPr>
              <a:xfrm>
                <a:off x="5105519" y="3858596"/>
                <a:ext cx="1765360" cy="438643"/>
                <a:chOff x="5047565" y="3429000"/>
                <a:chExt cx="1765360" cy="438643"/>
              </a:xfrm>
            </p:grpSpPr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94BF8BD4-43CE-7D59-8185-A2D587F3A009}"/>
                    </a:ext>
                  </a:extLst>
                </p:cNvPr>
                <p:cNvSpPr/>
                <p:nvPr/>
              </p:nvSpPr>
              <p:spPr>
                <a:xfrm>
                  <a:off x="5047567" y="3429000"/>
                  <a:ext cx="1765358" cy="438643"/>
                </a:xfrm>
                <a:prstGeom prst="rect">
                  <a:avLst/>
                </a:prstGeom>
                <a:solidFill>
                  <a:srgbClr val="ECFFF2"/>
                </a:solidFill>
                <a:ln>
                  <a:solidFill>
                    <a:srgbClr val="00463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392CD36E-D46D-8BFA-DE17-F8CE03A62FEA}"/>
                    </a:ext>
                  </a:extLst>
                </p:cNvPr>
                <p:cNvSpPr txBox="1"/>
                <p:nvPr/>
              </p:nvSpPr>
              <p:spPr>
                <a:xfrm>
                  <a:off x="5047565" y="3517693"/>
                  <a:ext cx="176535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Entrenamiento de modelo</a:t>
                  </a:r>
                </a:p>
              </p:txBody>
            </p:sp>
          </p:grp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3137D1-D331-08D4-326D-E16BF3F5E21E}"/>
                  </a:ext>
                </a:extLst>
              </p:cNvPr>
              <p:cNvSpPr txBox="1"/>
              <p:nvPr/>
            </p:nvSpPr>
            <p:spPr>
              <a:xfrm>
                <a:off x="2414725" y="3550819"/>
                <a:ext cx="3243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XGBoost</a:t>
                </a:r>
              </a:p>
            </p:txBody>
          </p:sp>
          <p:sp>
            <p:nvSpPr>
              <p:cNvPr id="180" name="Arrow: Right 179">
                <a:extLst>
                  <a:ext uri="{FF2B5EF4-FFF2-40B4-BE49-F238E27FC236}">
                    <a16:creationId xmlns:a16="http://schemas.microsoft.com/office/drawing/2014/main" id="{6C9A42AD-1048-5564-45E1-4687772F4556}"/>
                  </a:ext>
                </a:extLst>
              </p:cNvPr>
              <p:cNvSpPr/>
              <p:nvPr/>
            </p:nvSpPr>
            <p:spPr>
              <a:xfrm>
                <a:off x="4759422" y="3918186"/>
                <a:ext cx="410818" cy="319462"/>
              </a:xfrm>
              <a:prstGeom prst="rightArrow">
                <a:avLst/>
              </a:prstGeom>
              <a:solidFill>
                <a:srgbClr val="CFE6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D2C895A-D1F0-AC0F-17CF-EFE97D7315BE}"/>
                </a:ext>
              </a:extLst>
            </p:cNvPr>
            <p:cNvSpPr txBox="1"/>
            <p:nvPr/>
          </p:nvSpPr>
          <p:spPr>
            <a:xfrm>
              <a:off x="3992694" y="1237040"/>
              <a:ext cx="48401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Módulo de Generación de modelos</a:t>
              </a:r>
            </a:p>
          </p:txBody>
        </p:sp>
      </p:grpSp>
      <p:sp>
        <p:nvSpPr>
          <p:cNvPr id="203" name="Arrow: Right 202">
            <a:extLst>
              <a:ext uri="{FF2B5EF4-FFF2-40B4-BE49-F238E27FC236}">
                <a16:creationId xmlns:a16="http://schemas.microsoft.com/office/drawing/2014/main" id="{0D7737DD-878A-FB5F-354D-B379D37C1A1A}"/>
              </a:ext>
            </a:extLst>
          </p:cNvPr>
          <p:cNvSpPr/>
          <p:nvPr/>
        </p:nvSpPr>
        <p:spPr>
          <a:xfrm rot="5400000">
            <a:off x="2240807" y="3438393"/>
            <a:ext cx="531074" cy="319462"/>
          </a:xfrm>
          <a:prstGeom prst="rightArrow">
            <a:avLst>
              <a:gd name="adj1" fmla="val 50000"/>
              <a:gd name="adj2" fmla="val 58063"/>
            </a:avLst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Arrow: Bent 203">
            <a:extLst>
              <a:ext uri="{FF2B5EF4-FFF2-40B4-BE49-F238E27FC236}">
                <a16:creationId xmlns:a16="http://schemas.microsoft.com/office/drawing/2014/main" id="{26428B68-0E54-2FBF-7B8A-1A84B70C7B3A}"/>
              </a:ext>
            </a:extLst>
          </p:cNvPr>
          <p:cNvSpPr/>
          <p:nvPr/>
        </p:nvSpPr>
        <p:spPr>
          <a:xfrm rot="5400000" flipH="1">
            <a:off x="6399932" y="3056162"/>
            <a:ext cx="679944" cy="1055974"/>
          </a:xfrm>
          <a:prstGeom prst="bentArrow">
            <a:avLst>
              <a:gd name="adj1" fmla="val 25000"/>
              <a:gd name="adj2" fmla="val 25000"/>
              <a:gd name="adj3" fmla="val 34239"/>
              <a:gd name="adj4" fmla="val 43750"/>
            </a:avLst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6" name="Arrow: Bent 205">
            <a:extLst>
              <a:ext uri="{FF2B5EF4-FFF2-40B4-BE49-F238E27FC236}">
                <a16:creationId xmlns:a16="http://schemas.microsoft.com/office/drawing/2014/main" id="{FAB02C94-084A-5681-8154-0F8A2FC7F20A}"/>
              </a:ext>
            </a:extLst>
          </p:cNvPr>
          <p:cNvSpPr/>
          <p:nvPr/>
        </p:nvSpPr>
        <p:spPr>
          <a:xfrm rot="5400000">
            <a:off x="8086046" y="2572951"/>
            <a:ext cx="2096359" cy="752779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6" name="Flowchart: Alternate Process 215">
            <a:extLst>
              <a:ext uri="{FF2B5EF4-FFF2-40B4-BE49-F238E27FC236}">
                <a16:creationId xmlns:a16="http://schemas.microsoft.com/office/drawing/2014/main" id="{736CDF49-2D88-50FA-7DA3-5EE06F2AD8DD}"/>
              </a:ext>
            </a:extLst>
          </p:cNvPr>
          <p:cNvSpPr/>
          <p:nvPr/>
        </p:nvSpPr>
        <p:spPr>
          <a:xfrm>
            <a:off x="10349523" y="2456904"/>
            <a:ext cx="1304200" cy="1639078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132E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: Top Corners Rounded 216">
            <a:extLst>
              <a:ext uri="{FF2B5EF4-FFF2-40B4-BE49-F238E27FC236}">
                <a16:creationId xmlns:a16="http://schemas.microsoft.com/office/drawing/2014/main" id="{807371CA-DFC7-2777-13C7-DDF804BF5139}"/>
              </a:ext>
            </a:extLst>
          </p:cNvPr>
          <p:cNvSpPr/>
          <p:nvPr/>
        </p:nvSpPr>
        <p:spPr>
          <a:xfrm>
            <a:off x="10349525" y="2456903"/>
            <a:ext cx="1304200" cy="465779"/>
          </a:xfrm>
          <a:prstGeom prst="round2SameRect">
            <a:avLst>
              <a:gd name="adj1" fmla="val 38011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Consultas de Usuario</a:t>
            </a:r>
          </a:p>
        </p:txBody>
      </p:sp>
      <p:pic>
        <p:nvPicPr>
          <p:cNvPr id="219" name="Graphic 218" descr="User with solid fill">
            <a:extLst>
              <a:ext uri="{FF2B5EF4-FFF2-40B4-BE49-F238E27FC236}">
                <a16:creationId xmlns:a16="http://schemas.microsoft.com/office/drawing/2014/main" id="{5B83202F-B86E-4243-1119-9920C59E8F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5294" y="2976093"/>
            <a:ext cx="914400" cy="914400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BF5702C-3DD7-0C49-CC1E-7F7250C8045E}"/>
              </a:ext>
            </a:extLst>
          </p:cNvPr>
          <p:cNvGrpSpPr/>
          <p:nvPr/>
        </p:nvGrpSpPr>
        <p:grpSpPr>
          <a:xfrm>
            <a:off x="106830" y="2419257"/>
            <a:ext cx="1304202" cy="1639079"/>
            <a:chOff x="228780" y="4263453"/>
            <a:chExt cx="1304202" cy="1639079"/>
          </a:xfrm>
        </p:grpSpPr>
        <p:sp>
          <p:nvSpPr>
            <p:cNvPr id="224" name="Flowchart: Alternate Process 223">
              <a:extLst>
                <a:ext uri="{FF2B5EF4-FFF2-40B4-BE49-F238E27FC236}">
                  <a16:creationId xmlns:a16="http://schemas.microsoft.com/office/drawing/2014/main" id="{1773EE69-0D7B-6A44-EB51-9A0F763E2A23}"/>
                </a:ext>
              </a:extLst>
            </p:cNvPr>
            <p:cNvSpPr/>
            <p:nvPr/>
          </p:nvSpPr>
          <p:spPr>
            <a:xfrm>
              <a:off x="228780" y="4263454"/>
              <a:ext cx="1304200" cy="1639078"/>
            </a:xfrm>
            <a:prstGeom prst="flowChartAlternate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132E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: Top Corners Rounded 224">
              <a:extLst>
                <a:ext uri="{FF2B5EF4-FFF2-40B4-BE49-F238E27FC236}">
                  <a16:creationId xmlns:a16="http://schemas.microsoft.com/office/drawing/2014/main" id="{EDF22E43-2139-9F49-C332-212885423BCD}"/>
                </a:ext>
              </a:extLst>
            </p:cNvPr>
            <p:cNvSpPr/>
            <p:nvPr/>
          </p:nvSpPr>
          <p:spPr>
            <a:xfrm>
              <a:off x="228782" y="4263453"/>
              <a:ext cx="1304200" cy="465779"/>
            </a:xfrm>
            <a:prstGeom prst="round2SameRect">
              <a:avLst>
                <a:gd name="adj1" fmla="val 38011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Origen de datos</a:t>
              </a:r>
            </a:p>
          </p:txBody>
        </p:sp>
        <p:pic>
          <p:nvPicPr>
            <p:cNvPr id="227" name="Graphic 226" descr="Database with solid fill">
              <a:extLst>
                <a:ext uri="{FF2B5EF4-FFF2-40B4-BE49-F238E27FC236}">
                  <a16:creationId xmlns:a16="http://schemas.microsoft.com/office/drawing/2014/main" id="{0A4B2004-4631-1731-FFBF-5F353C4BC7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80" y="4846818"/>
              <a:ext cx="914400" cy="914400"/>
            </a:xfrm>
            <a:prstGeom prst="rect">
              <a:avLst/>
            </a:prstGeom>
          </p:spPr>
        </p:pic>
      </p:grpSp>
      <p:pic>
        <p:nvPicPr>
          <p:cNvPr id="230" name="Graphic 229" descr="Filing Box Archive with solid fill">
            <a:extLst>
              <a:ext uri="{FF2B5EF4-FFF2-40B4-BE49-F238E27FC236}">
                <a16:creationId xmlns:a16="http://schemas.microsoft.com/office/drawing/2014/main" id="{FFBB0221-A661-4AF2-B961-8669E1036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2721" y="4594403"/>
            <a:ext cx="914400" cy="914400"/>
          </a:xfrm>
          <a:prstGeom prst="rect">
            <a:avLst/>
          </a:prstGeom>
        </p:spPr>
      </p:pic>
      <p:pic>
        <p:nvPicPr>
          <p:cNvPr id="232" name="Graphic 231" descr="Folder with solid fill">
            <a:extLst>
              <a:ext uri="{FF2B5EF4-FFF2-40B4-BE49-F238E27FC236}">
                <a16:creationId xmlns:a16="http://schemas.microsoft.com/office/drawing/2014/main" id="{54695199-89AB-D2AF-08F8-0D41F6EDB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2721" y="4744403"/>
            <a:ext cx="914400" cy="914400"/>
          </a:xfrm>
          <a:prstGeom prst="rect">
            <a:avLst/>
          </a:prstGeom>
        </p:spPr>
      </p:pic>
      <p:pic>
        <p:nvPicPr>
          <p:cNvPr id="234" name="Graphic 233" descr="Document with solid fill">
            <a:extLst>
              <a:ext uri="{FF2B5EF4-FFF2-40B4-BE49-F238E27FC236}">
                <a16:creationId xmlns:a16="http://schemas.microsoft.com/office/drawing/2014/main" id="{758BCD02-74F8-3C31-E4C8-CCE7BD8ADF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2721" y="48944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58966-E1F2-DF0E-585B-A6A93256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2FB52731-7BE8-E4FD-4CBB-9CECE259BC7E}"/>
              </a:ext>
            </a:extLst>
          </p:cNvPr>
          <p:cNvSpPr/>
          <p:nvPr/>
        </p:nvSpPr>
        <p:spPr>
          <a:xfrm>
            <a:off x="435684" y="1377397"/>
            <a:ext cx="2485600" cy="2710900"/>
          </a:xfrm>
          <a:prstGeom prst="flowChartAlternateProcess">
            <a:avLst/>
          </a:prstGeom>
          <a:solidFill>
            <a:srgbClr val="ECF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62DBBFB7-5F80-6B2A-E9B5-4A92E2FCAA85}"/>
              </a:ext>
            </a:extLst>
          </p:cNvPr>
          <p:cNvSpPr/>
          <p:nvPr/>
        </p:nvSpPr>
        <p:spPr>
          <a:xfrm>
            <a:off x="435685" y="1377396"/>
            <a:ext cx="2485599" cy="56404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Origen de datos</a:t>
            </a:r>
          </a:p>
        </p:txBody>
      </p:sp>
      <p:pic>
        <p:nvPicPr>
          <p:cNvPr id="45" name="Graphic 44" descr="Database outline">
            <a:extLst>
              <a:ext uri="{FF2B5EF4-FFF2-40B4-BE49-F238E27FC236}">
                <a16:creationId xmlns:a16="http://schemas.microsoft.com/office/drawing/2014/main" id="{853A68AD-14EC-BE72-3832-2D47654C4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1284" y="2442603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BA29D65-7B91-4B69-D285-080E472557A3}"/>
              </a:ext>
            </a:extLst>
          </p:cNvPr>
          <p:cNvGrpSpPr/>
          <p:nvPr/>
        </p:nvGrpSpPr>
        <p:grpSpPr>
          <a:xfrm>
            <a:off x="3199582" y="1377396"/>
            <a:ext cx="2618122" cy="3287369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F066FF95-59F8-B3BE-D6D2-43781F281FD3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863CC728-5A23-744B-1F88-9B814E773215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Análisis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90A0313-3DB8-FA54-6B09-76D964FB1C3F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Features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84DDD95-CCF0-E9BE-49A9-740752FEA6D4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BBF5861-E522-CE26-377E-5CB907E1966B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DB5CB80-FA0F-901B-D631-8B0FFBD797FD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B05498-5E8F-D983-316B-5F82378404B4}"/>
              </a:ext>
            </a:extLst>
          </p:cNvPr>
          <p:cNvGrpSpPr/>
          <p:nvPr/>
        </p:nvGrpSpPr>
        <p:grpSpPr>
          <a:xfrm>
            <a:off x="6096000" y="1377396"/>
            <a:ext cx="2618121" cy="3287369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DAA3A1FB-B423-4436-FA15-9D364B5D5612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101F0D86-92F6-34DE-2A84-A7CE1A950BE9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053BCBB-6915-FC74-3DB4-04E418387D9C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BBB7556-FF8F-07D9-72F8-FE1E44625BBF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758B3CE-AE1B-CBC5-789A-FAFF84E6676F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BAFA793-3600-83B2-0868-DB56483C69F7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70671A-2681-942A-CD4F-7E59C2FD5ADA}"/>
              </a:ext>
            </a:extLst>
          </p:cNvPr>
          <p:cNvGrpSpPr/>
          <p:nvPr/>
        </p:nvGrpSpPr>
        <p:grpSpPr>
          <a:xfrm>
            <a:off x="8992417" y="1377396"/>
            <a:ext cx="2618121" cy="3287369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16D47339-D590-EA2A-7A15-414888C201EE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B7421B35-C557-3DEA-9C47-AAAD329FB7B3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DCC5F04-A87F-4349-D974-E7CB3C4A67D3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3A4FBA3-811D-C6F9-686F-2D51EB7046D2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5F22C87-7D5D-076E-2243-74F2C70FD42A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BA46743-7C96-5857-2FAC-D682FC3897E8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70ED116F-7275-49F5-4A5A-1A046DA5EE7E}"/>
              </a:ext>
            </a:extLst>
          </p:cNvPr>
          <p:cNvSpPr/>
          <p:nvPr/>
        </p:nvSpPr>
        <p:spPr>
          <a:xfrm>
            <a:off x="8634615" y="2855139"/>
            <a:ext cx="410818" cy="319462"/>
          </a:xfrm>
          <a:prstGeom prst="righ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9C09CD-098C-C59C-74AE-3035A5947B76}"/>
              </a:ext>
            </a:extLst>
          </p:cNvPr>
          <p:cNvSpPr/>
          <p:nvPr/>
        </p:nvSpPr>
        <p:spPr>
          <a:xfrm>
            <a:off x="5758069" y="2855139"/>
            <a:ext cx="410818" cy="319462"/>
          </a:xfrm>
          <a:prstGeom prst="righ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37A3C8F-F7A0-192F-C9E5-4FAFD5169CB5}"/>
              </a:ext>
            </a:extLst>
          </p:cNvPr>
          <p:cNvSpPr/>
          <p:nvPr/>
        </p:nvSpPr>
        <p:spPr>
          <a:xfrm>
            <a:off x="2825615" y="2855139"/>
            <a:ext cx="410818" cy="319462"/>
          </a:xfrm>
          <a:prstGeom prst="righ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E3252-B69B-A3F9-CA6F-EA94B25B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7785F48-621A-8CC4-3174-20DE949F33F3}"/>
              </a:ext>
            </a:extLst>
          </p:cNvPr>
          <p:cNvGrpSpPr/>
          <p:nvPr/>
        </p:nvGrpSpPr>
        <p:grpSpPr>
          <a:xfrm>
            <a:off x="223646" y="1665629"/>
            <a:ext cx="2485600" cy="271090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276CF9BC-4ACB-75EE-4494-2E502903FFB9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B5D55C59-664A-F82D-2C80-3FF2FCE97530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B1999C5C-8DF5-7A6B-BE31-36444031A9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391FD90-7C70-D696-8EE9-A52FED7465A5}"/>
              </a:ext>
            </a:extLst>
          </p:cNvPr>
          <p:cNvGrpSpPr/>
          <p:nvPr/>
        </p:nvGrpSpPr>
        <p:grpSpPr>
          <a:xfrm>
            <a:off x="3093563" y="1377396"/>
            <a:ext cx="2618122" cy="3287369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72352B47-1B46-ED73-45D4-28ABA2A459FA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6C5236C4-8037-680C-11A2-819B4753B076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Preprocesamiento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BE2F7F1-E9A5-98B9-67F9-794E38153881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C522DCE9-30B0-F649-8C7A-8B21D67808D9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8672BFD-725D-8977-980A-05771024FAC3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EFA4ED1-2C9E-66A5-714E-D56C8ED7A618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nulos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6D1D699-561D-EC7A-8D3F-1BB35ED4BD9E}"/>
              </a:ext>
            </a:extLst>
          </p:cNvPr>
          <p:cNvGrpSpPr/>
          <p:nvPr/>
        </p:nvGrpSpPr>
        <p:grpSpPr>
          <a:xfrm>
            <a:off x="6096000" y="1377396"/>
            <a:ext cx="2618121" cy="3287369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A2CE759D-9D89-0DAE-BA6F-E2A25D2CF38F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3467B12F-2D0E-A66D-8764-BCC358791826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E4FCE0F-4D87-2F0E-DD0C-6A65EDF48DC0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B993FDB0-7849-3933-DE33-A160237F973F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847F9A4-7F91-8C75-44A0-CC5859834A65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04104FF-0729-556A-D908-22F8076F10F0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59BB648-ECA3-892C-3F7E-E33D052947ED}"/>
              </a:ext>
            </a:extLst>
          </p:cNvPr>
          <p:cNvGrpSpPr/>
          <p:nvPr/>
        </p:nvGrpSpPr>
        <p:grpSpPr>
          <a:xfrm>
            <a:off x="9098436" y="1377396"/>
            <a:ext cx="2618121" cy="3287369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F5BE33EB-EACA-85D6-8BCF-851FD2447650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A615A468-87F9-F494-0C9D-FC710EA5C8C7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1183FDE-7B65-9471-CA65-30337F9F63B5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Implementación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EFEB305A-BDE0-B88E-1532-ED83C3DE4A24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D38AD9CE-809F-7221-D08D-84E0A079F333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35095F0E-99AE-9CBE-C5D0-B1451AFE0B6B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</p:grp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9AA04982-9E2E-0466-5FEB-1B4E3085390D}"/>
              </a:ext>
            </a:extLst>
          </p:cNvPr>
          <p:cNvCxnSpPr>
            <a:cxnSpLocks/>
            <a:stCxn id="68" idx="2"/>
            <a:endCxn id="60" idx="2"/>
          </p:cNvCxnSpPr>
          <p:nvPr/>
        </p:nvCxnSpPr>
        <p:spPr>
          <a:xfrm rot="5400000">
            <a:off x="8906279" y="3163547"/>
            <a:ext cx="12700" cy="3002436"/>
          </a:xfrm>
          <a:prstGeom prst="curvedConnector3">
            <a:avLst>
              <a:gd name="adj1" fmla="val 383478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2518722A-807E-B91A-2CC7-8B24CC49130A}"/>
              </a:ext>
            </a:extLst>
          </p:cNvPr>
          <p:cNvCxnSpPr>
            <a:cxnSpLocks/>
            <a:stCxn id="68" idx="2"/>
            <a:endCxn id="48" idx="2"/>
          </p:cNvCxnSpPr>
          <p:nvPr/>
        </p:nvCxnSpPr>
        <p:spPr>
          <a:xfrm rot="5400000">
            <a:off x="7405061" y="1662329"/>
            <a:ext cx="12700" cy="6004873"/>
          </a:xfrm>
          <a:prstGeom prst="curvedConnector3">
            <a:avLst>
              <a:gd name="adj1" fmla="val 5139126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081BA6-B4F9-DD25-1D88-683ED04E4C49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2709246" y="3021080"/>
            <a:ext cx="384317" cy="1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D8F7DA-E077-697E-CC98-A81BBCAC59AF}"/>
              </a:ext>
            </a:extLst>
          </p:cNvPr>
          <p:cNvCxnSpPr>
            <a:cxnSpLocks/>
            <a:stCxn id="48" idx="3"/>
            <a:endCxn id="60" idx="1"/>
          </p:cNvCxnSpPr>
          <p:nvPr/>
        </p:nvCxnSpPr>
        <p:spPr>
          <a:xfrm>
            <a:off x="5711685" y="3021081"/>
            <a:ext cx="384315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CF4A24E-D1F9-7D12-D2B1-2A627CDB0A70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8714121" y="3021081"/>
            <a:ext cx="384315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76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6881B-6B18-6260-A895-2507D0EE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E301AE-6739-AC8A-8E85-64E099D7EB11}"/>
              </a:ext>
            </a:extLst>
          </p:cNvPr>
          <p:cNvSpPr/>
          <p:nvPr/>
        </p:nvSpPr>
        <p:spPr>
          <a:xfrm>
            <a:off x="2288658" y="503582"/>
            <a:ext cx="9679695" cy="4977021"/>
          </a:xfrm>
          <a:prstGeom prst="rect">
            <a:avLst/>
          </a:prstGeom>
          <a:solidFill>
            <a:srgbClr val="CFE6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F9EE2F-2080-C895-9E5C-DA80F6D3F483}"/>
              </a:ext>
            </a:extLst>
          </p:cNvPr>
          <p:cNvGrpSpPr/>
          <p:nvPr/>
        </p:nvGrpSpPr>
        <p:grpSpPr>
          <a:xfrm>
            <a:off x="42438" y="1691326"/>
            <a:ext cx="2638391" cy="2952577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CA616688-2B33-D0D8-F32D-1B8BCBE03412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8A33BF76-CF97-6A23-6E96-886947D66C9C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8B5094F6-ADC5-57D5-DDCB-1CCB830FD7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FB3CCF3-7C53-CBF6-7B72-5F7B419C8CFA}"/>
              </a:ext>
            </a:extLst>
          </p:cNvPr>
          <p:cNvGrpSpPr/>
          <p:nvPr/>
        </p:nvGrpSpPr>
        <p:grpSpPr>
          <a:xfrm>
            <a:off x="2932625" y="1377396"/>
            <a:ext cx="2779060" cy="3580437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AEBE877D-0794-7B25-E775-E7B0B68BC3E2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155C932F-A882-C7E4-354D-09CC7A10A621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Preprocesamiento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8A6E7D3-BC95-D224-A96F-7EF8BB9A9E0D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952CBA95-3DB1-6FDE-2545-CB9C1480D7C9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8C34FD4-1CCA-AE0F-5928-8B694B74B337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5B4F25E-28DC-973D-4D09-00BBBE1467DD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nulos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580821F-FF5C-6BD3-D4D9-8C914DEA8DE9}"/>
              </a:ext>
            </a:extLst>
          </p:cNvPr>
          <p:cNvGrpSpPr/>
          <p:nvPr/>
        </p:nvGrpSpPr>
        <p:grpSpPr>
          <a:xfrm>
            <a:off x="5935062" y="1377396"/>
            <a:ext cx="2779059" cy="3580437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840ACBF0-0E88-4124-8A0E-CB4F161DFB1A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905BD273-79D1-FA82-7960-114879001D1A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8ACBBE49-B17D-95E2-3251-213CE8ACC63A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FFD6D56-8A82-4033-FF17-8BEE1BB361AF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7B3BD16-8B28-3B8F-303D-6DC399590087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B4E31D5-E242-6802-5BB9-392FD2CB8321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5C17A8B-CD5D-027D-9B42-7A6FF1A659D0}"/>
              </a:ext>
            </a:extLst>
          </p:cNvPr>
          <p:cNvGrpSpPr/>
          <p:nvPr/>
        </p:nvGrpSpPr>
        <p:grpSpPr>
          <a:xfrm>
            <a:off x="8937498" y="1377396"/>
            <a:ext cx="2779059" cy="3580437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A0ECF5FB-6E08-B24E-8C76-547A3386F8CB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5CA49C9A-2D96-14BD-EA65-714CE7BC01EB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5B45896-B2C3-A4C5-C276-2652ECB7AC07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Implementación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AFCF9C9-584A-F6B1-50A9-AC462E3F8B66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A751361-F905-B310-59B5-AEFF05D60CC7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20BADC2-4763-9F79-7124-054FAE094B53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</p:grp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4291616F-F49E-4947-9F6F-71223F75812A}"/>
              </a:ext>
            </a:extLst>
          </p:cNvPr>
          <p:cNvCxnSpPr>
            <a:cxnSpLocks/>
            <a:stCxn id="68" idx="2"/>
            <a:endCxn id="60" idx="2"/>
          </p:cNvCxnSpPr>
          <p:nvPr/>
        </p:nvCxnSpPr>
        <p:spPr>
          <a:xfrm rot="5400000">
            <a:off x="8825810" y="3456615"/>
            <a:ext cx="12700" cy="3002436"/>
          </a:xfrm>
          <a:prstGeom prst="curvedConnector3">
            <a:avLst>
              <a:gd name="adj1" fmla="val 180000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3DAB1C0B-C055-A1F0-7108-2D690117FA2C}"/>
              </a:ext>
            </a:extLst>
          </p:cNvPr>
          <p:cNvCxnSpPr>
            <a:cxnSpLocks/>
            <a:stCxn id="68" idx="2"/>
            <a:endCxn id="48" idx="2"/>
          </p:cNvCxnSpPr>
          <p:nvPr/>
        </p:nvCxnSpPr>
        <p:spPr>
          <a:xfrm rot="5400000">
            <a:off x="7324592" y="1955397"/>
            <a:ext cx="12700" cy="6004873"/>
          </a:xfrm>
          <a:prstGeom prst="curvedConnector3">
            <a:avLst>
              <a:gd name="adj1" fmla="val 3306976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A7E60A-8140-F132-B676-47A8698E6E86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2680829" y="3167615"/>
            <a:ext cx="251796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A331C6-E50D-8DC4-C895-8FE57C50B7E7}"/>
              </a:ext>
            </a:extLst>
          </p:cNvPr>
          <p:cNvCxnSpPr>
            <a:cxnSpLocks/>
            <a:stCxn id="48" idx="3"/>
            <a:endCxn id="60" idx="1"/>
          </p:cNvCxnSpPr>
          <p:nvPr/>
        </p:nvCxnSpPr>
        <p:spPr>
          <a:xfrm>
            <a:off x="5711685" y="3167615"/>
            <a:ext cx="223377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67DB6D7-6DBB-D731-2D1E-CF964ACD2CD3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8714121" y="3167615"/>
            <a:ext cx="223377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1AFD77-7869-2C98-26CB-36908F3F8795}"/>
              </a:ext>
            </a:extLst>
          </p:cNvPr>
          <p:cNvSpPr/>
          <p:nvPr/>
        </p:nvSpPr>
        <p:spPr>
          <a:xfrm>
            <a:off x="5780896" y="221562"/>
            <a:ext cx="3038427" cy="614326"/>
          </a:xfrm>
          <a:prstGeom prst="roundRect">
            <a:avLst/>
          </a:prstGeom>
          <a:solidFill>
            <a:srgbClr val="132E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/>
              <a:t>MLFlow</a:t>
            </a:r>
          </a:p>
        </p:txBody>
      </p:sp>
    </p:spTree>
    <p:extLst>
      <p:ext uri="{BB962C8B-B14F-4D97-AF65-F5344CB8AC3E}">
        <p14:creationId xmlns:p14="http://schemas.microsoft.com/office/powerpoint/2010/main" val="122502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61E28-5B69-67F0-0FD2-B37967C60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5229C1-DE57-962A-A665-BAA460538352}"/>
              </a:ext>
            </a:extLst>
          </p:cNvPr>
          <p:cNvGrpSpPr/>
          <p:nvPr/>
        </p:nvGrpSpPr>
        <p:grpSpPr>
          <a:xfrm>
            <a:off x="429877" y="1377396"/>
            <a:ext cx="2485600" cy="271090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9107D4F2-2BE1-5294-42A2-82AB0941978B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5B0C73E2-068A-28D0-B102-81A5649C36D7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CDC023D6-D5CF-5EA2-E2D5-CFB5AA8B8A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BF73C6-D29A-B419-1259-094EBC62981B}"/>
              </a:ext>
            </a:extLst>
          </p:cNvPr>
          <p:cNvGrpSpPr/>
          <p:nvPr/>
        </p:nvGrpSpPr>
        <p:grpSpPr>
          <a:xfrm>
            <a:off x="3160644" y="1377396"/>
            <a:ext cx="2618122" cy="3287369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E851C655-B195-8677-3131-B19780D6DA4A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C29A25EB-4578-2928-32DC-25A38B447665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Análisis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483B9C5-FA81-96B5-78DD-B6ACAF3B3516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Features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91215BC-B231-48CE-2987-9883A44E9F00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ACDE46E-8B3D-C119-01EC-808DC2B64F0F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FD668770-645A-4FEC-E418-75D2DA25D10A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66B6574-A333-C69D-AD8C-50D3E9987EE4}"/>
              </a:ext>
            </a:extLst>
          </p:cNvPr>
          <p:cNvGrpSpPr/>
          <p:nvPr/>
        </p:nvGrpSpPr>
        <p:grpSpPr>
          <a:xfrm>
            <a:off x="5905479" y="1377396"/>
            <a:ext cx="2618121" cy="3287369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2C27A16A-4BDC-A4CB-AE0A-9F9B09230C4C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BDFC4036-B294-3F38-EDC3-452D6C33097A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BA151B86-6EC9-4832-B948-D3E7100E44E8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8635BE31-9EE9-CC91-F7B8-CE0BB36D3990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D78386C-348E-6564-9A86-7CC3E1587141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0E2F3C35-B976-D2FE-9A92-25266DBF3A55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131BFF-B14C-A7DA-C3C0-E99DFC9B953C}"/>
              </a:ext>
            </a:extLst>
          </p:cNvPr>
          <p:cNvGrpSpPr/>
          <p:nvPr/>
        </p:nvGrpSpPr>
        <p:grpSpPr>
          <a:xfrm>
            <a:off x="8650313" y="1377396"/>
            <a:ext cx="2618121" cy="3287369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E0FDF49-DD72-6127-D323-236A63B9B23F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C81BFB56-4FF8-6025-01CF-68B44C636235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F6EB6532-692F-BFE3-0C5A-9CF48A3E1845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D1A6E56E-1725-22E0-9BD9-0B5BF095ECC0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7C14BBA-384A-2F9E-D889-117857C966C3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64730720-7C6E-596C-52A0-8642222CE64D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23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0DC06-6B77-7089-E43F-87C597EE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DD56E6-B9C1-D780-2114-2050740D5683}"/>
              </a:ext>
            </a:extLst>
          </p:cNvPr>
          <p:cNvSpPr/>
          <p:nvPr/>
        </p:nvSpPr>
        <p:spPr>
          <a:xfrm>
            <a:off x="1521382" y="673465"/>
            <a:ext cx="9045019" cy="4977021"/>
          </a:xfrm>
          <a:prstGeom prst="rect">
            <a:avLst/>
          </a:prstGeom>
          <a:solidFill>
            <a:srgbClr val="CFE6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040469-7958-911A-D659-852FF735450F}"/>
              </a:ext>
            </a:extLst>
          </p:cNvPr>
          <p:cNvGrpSpPr/>
          <p:nvPr/>
        </p:nvGrpSpPr>
        <p:grpSpPr>
          <a:xfrm>
            <a:off x="133977" y="2217989"/>
            <a:ext cx="1807993" cy="222649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0C475BE4-1D4A-585E-EB85-3FC0FC8E8AF5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B35115BE-C54B-871D-CB50-B8A6B8E682D2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EE4DE4E2-F6B9-B9C3-8D68-4DFF591357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C08A672-528E-41C0-3510-929D6EEE4A48}"/>
              </a:ext>
            </a:extLst>
          </p:cNvPr>
          <p:cNvGrpSpPr/>
          <p:nvPr/>
        </p:nvGrpSpPr>
        <p:grpSpPr>
          <a:xfrm>
            <a:off x="2104574" y="1647373"/>
            <a:ext cx="2493804" cy="3407773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1D81EE3A-D8B5-D1B3-EF94-602F4453090A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7A8B3916-9E20-F2AD-64F6-02F534712D87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Preprocesamiento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9FFD18E-0D87-0CE1-14F0-65039766C0C3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outliers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0EB2DFB-B53C-6023-1813-4A13755D9F5D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86014B7-564A-5ADE-9104-AA687198A517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C9F4A5B-32EE-06F1-BB8B-104E67683D26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División en train y test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0DEF6B9-983B-70BF-0A8D-838FC2E27D89}"/>
              </a:ext>
            </a:extLst>
          </p:cNvPr>
          <p:cNvGrpSpPr/>
          <p:nvPr/>
        </p:nvGrpSpPr>
        <p:grpSpPr>
          <a:xfrm>
            <a:off x="4845754" y="1647373"/>
            <a:ext cx="2493803" cy="3407773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FDA6CF9B-F0B5-F198-5E87-8C7EE91EEC68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307235BC-F3E6-E648-74E8-46B842DF99AF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8CD2CE9E-F542-CF90-1751-38793FB9FA2F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87C2D4B-AF01-C281-6E4D-DE40FA993927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55A560D-42BB-E19F-6F46-D5943110C407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98D3696D-E9A0-89BA-D70B-9BA6AAD62A54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XGBoost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9B13A-42F6-F12C-BB44-E45BB1B5C675}"/>
              </a:ext>
            </a:extLst>
          </p:cNvPr>
          <p:cNvGrpSpPr/>
          <p:nvPr/>
        </p:nvGrpSpPr>
        <p:grpSpPr>
          <a:xfrm>
            <a:off x="7594191" y="1647373"/>
            <a:ext cx="2493803" cy="3407773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BED14374-AF3A-2992-B45C-4CB63FBB1BF8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83FAA3D5-CA43-798E-417F-A7FAC5A667F0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7277B5E-D895-D6A2-880B-58BD33273DA0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E27D177-5694-DE30-7C8E-43D0E910B5EC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D6C3C5F-9471-756A-08D9-89044C8896FC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mejor modelo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3AF28B99-ACEC-F701-AB44-0EE903497AF0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</p:grp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F83EB39-90EB-C707-C8BB-4D253FEE5B78}"/>
              </a:ext>
            </a:extLst>
          </p:cNvPr>
          <p:cNvCxnSpPr>
            <a:cxnSpLocks/>
            <a:stCxn id="68" idx="2"/>
            <a:endCxn id="60" idx="2"/>
          </p:cNvCxnSpPr>
          <p:nvPr/>
        </p:nvCxnSpPr>
        <p:spPr>
          <a:xfrm rot="5400000">
            <a:off x="7466875" y="3680928"/>
            <a:ext cx="12700" cy="2748437"/>
          </a:xfrm>
          <a:prstGeom prst="curvedConnector3">
            <a:avLst>
              <a:gd name="adj1" fmla="val 180000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72628EF1-74D5-2075-84F0-78292E5FA3B9}"/>
              </a:ext>
            </a:extLst>
          </p:cNvPr>
          <p:cNvCxnSpPr>
            <a:cxnSpLocks/>
            <a:stCxn id="68" idx="2"/>
            <a:endCxn id="48" idx="2"/>
          </p:cNvCxnSpPr>
          <p:nvPr/>
        </p:nvCxnSpPr>
        <p:spPr>
          <a:xfrm rot="5400000">
            <a:off x="6096285" y="2310338"/>
            <a:ext cx="12700" cy="5489617"/>
          </a:xfrm>
          <a:prstGeom prst="curvedConnector3">
            <a:avLst>
              <a:gd name="adj1" fmla="val 340000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1F106D-8B73-E608-78B8-EDD80E161BB1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941969" y="3351260"/>
            <a:ext cx="162605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DB85E1-4AFC-3CF6-47F0-D3D9E5AA86A0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634663" y="3351260"/>
            <a:ext cx="211091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CB1B35-77F8-5C5B-8E3A-F0CC4DC6EAC1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7339557" y="3351260"/>
            <a:ext cx="254634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84D3EF-2963-2418-F47B-90CD6D6CA3D3}"/>
              </a:ext>
            </a:extLst>
          </p:cNvPr>
          <p:cNvSpPr/>
          <p:nvPr/>
        </p:nvSpPr>
        <p:spPr>
          <a:xfrm>
            <a:off x="4579792" y="437707"/>
            <a:ext cx="3038427" cy="614326"/>
          </a:xfrm>
          <a:prstGeom prst="roundRect">
            <a:avLst/>
          </a:prstGeom>
          <a:solidFill>
            <a:srgbClr val="132E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/>
              <a:t>MLOps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AD510A-6732-B4FE-AAB4-9164A0A2E775}"/>
              </a:ext>
            </a:extLst>
          </p:cNvPr>
          <p:cNvGrpSpPr/>
          <p:nvPr/>
        </p:nvGrpSpPr>
        <p:grpSpPr>
          <a:xfrm>
            <a:off x="10245596" y="2217989"/>
            <a:ext cx="1807993" cy="2226491"/>
            <a:chOff x="10384007" y="2138160"/>
            <a:chExt cx="1807993" cy="2226491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2D9E5788-A6B1-470B-BCC4-0A8CE6267709}"/>
                </a:ext>
              </a:extLst>
            </p:cNvPr>
            <p:cNvSpPr/>
            <p:nvPr/>
          </p:nvSpPr>
          <p:spPr>
            <a:xfrm>
              <a:off x="10384007" y="2138161"/>
              <a:ext cx="1807993" cy="222649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5EC2D544-4248-EB06-0A8D-45982A2D4E4B}"/>
                </a:ext>
              </a:extLst>
            </p:cNvPr>
            <p:cNvSpPr/>
            <p:nvPr/>
          </p:nvSpPr>
          <p:spPr>
            <a:xfrm>
              <a:off x="10384008" y="2138160"/>
              <a:ext cx="1807992" cy="4632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Servicio web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6F2FF5-D79B-930E-01FA-A14D79BFD8CE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10087994" y="3351260"/>
            <a:ext cx="150847" cy="12794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437975-3FED-41C0-0186-3FBA555F4F0E}"/>
              </a:ext>
            </a:extLst>
          </p:cNvPr>
          <p:cNvSpPr/>
          <p:nvPr/>
        </p:nvSpPr>
        <p:spPr>
          <a:xfrm>
            <a:off x="10342628" y="2900796"/>
            <a:ext cx="1646810" cy="463258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Predicciones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029372-908C-B566-F6B1-6933C7DAF976}"/>
              </a:ext>
            </a:extLst>
          </p:cNvPr>
          <p:cNvSpPr/>
          <p:nvPr/>
        </p:nvSpPr>
        <p:spPr>
          <a:xfrm>
            <a:off x="10326187" y="3594474"/>
            <a:ext cx="1646810" cy="463258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48466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577</Words>
  <Application>Microsoft Office PowerPoint</Application>
  <PresentationFormat>Widescreen</PresentationFormat>
  <Paragraphs>251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Gaspar Acevedo</dc:creator>
  <cp:lastModifiedBy>Gaspar Acevedo</cp:lastModifiedBy>
  <cp:revision>172</cp:revision>
  <dcterms:created xsi:type="dcterms:W3CDTF">2025-07-05T21:37:59Z</dcterms:created>
  <dcterms:modified xsi:type="dcterms:W3CDTF">2026-05-16T23:05:28Z</dcterms:modified>
</cp:coreProperties>
</file>